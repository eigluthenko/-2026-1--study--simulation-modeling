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№6. Реализация модели SIR в подходе сетей Петри</a:t>
            </a:r>
            <a:br/>
            <a:br/>
            <a:r>
              <a:rPr/>
              <a:t>Глущенко Евгений Игоревич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 и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Глущенко Евгений Игоревич</a:t>
            </a:r>
          </a:p>
          <a:p>
            <a:pPr lvl="0"/>
            <a:r>
              <a:rPr/>
              <a:t>студент группы НФИбд-01-23</a:t>
            </a:r>
          </a:p>
          <a:p>
            <a:pPr lvl="0"/>
            <a:r>
              <a:rPr/>
              <a:t>студенческий билет: 1132239110</a:t>
            </a:r>
          </a:p>
          <a:p>
            <a:pPr lvl="0"/>
            <a:r>
              <a:rPr/>
              <a:t>РУДН имени Патриса Лумумбы</a:t>
            </a:r>
          </a:p>
          <a:p>
            <a:pPr lvl="0"/>
            <a:r>
              <a:rPr/>
              <a:t>тема: модель SIR в подходе сетей Петри</a:t>
            </a:r>
          </a:p>
          <a:p>
            <a:pPr lvl="0"/>
            <a:r>
              <a:rPr/>
              <a:t>средства: Julia, DrWatson, CairoMakie, CSV, DataFrames, Literate.jl</a:t>
            </a:r>
          </a:p>
        </p:txBody>
      </p:sp>
      <p:pic>
        <p:nvPicPr>
          <p:cNvPr descr="_resources/image/logo_rud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3600" y="1193800"/>
            <a:ext cx="400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реализацию SIR через сеть Петри</a:t>
            </a:r>
          </a:p>
          <a:p>
            <a:pPr lvl="0"/>
            <a:r>
              <a:rPr/>
              <a:t>Построить модуль модели на Julia</a:t>
            </a:r>
          </a:p>
          <a:p>
            <a:pPr lvl="0"/>
            <a:r>
              <a:rPr/>
              <a:t>Выполнить детерминированную симуляцию</a:t>
            </a:r>
          </a:p>
          <a:p>
            <a:pPr lvl="0"/>
            <a:r>
              <a:rPr/>
              <a:t>Выполнить стохастическую симуляцию</a:t>
            </a:r>
          </a:p>
          <a:p>
            <a:pPr lvl="0"/>
            <a:r>
              <a:rPr/>
              <a:t>Провести исследование по коэффициенту заражения</a:t>
            </a:r>
          </a:p>
          <a:p>
            <a:pPr lvl="0"/>
            <a:r>
              <a:rPr/>
              <a:t>Подготовить графики, CSV, GIF и literate-форматы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Создать проект Julia в структуре </a:t>
            </a:r>
            <a:r>
              <a:rPr>
                <a:latin typeface="Courier"/>
              </a:rPr>
              <a:t>DrWatson</a:t>
            </a:r>
          </a:p>
          <a:p>
            <a:pPr lvl="0" indent="-342900" marL="342900">
              <a:buAutoNum type="arabicPeriod"/>
            </a:pPr>
            <a:r>
              <a:rPr/>
              <a:t>Реализовать </a:t>
            </a:r>
            <a:r>
              <a:rPr>
                <a:latin typeface="Courier"/>
              </a:rPr>
              <a:t>src/SIRPetri.jl</a:t>
            </a:r>
          </a:p>
          <a:p>
            <a:pPr lvl="0" indent="-342900" marL="342900">
              <a:buAutoNum type="arabicPeriod"/>
            </a:pPr>
            <a:r>
              <a:rPr/>
              <a:t>Запустить базовый сценарий SIR</a:t>
            </a:r>
          </a:p>
          <a:p>
            <a:pPr lvl="0" indent="-342900" marL="342900">
              <a:buAutoNum type="arabicPeriod"/>
            </a:pPr>
            <a:r>
              <a:rPr/>
              <a:t>Построить графики динамики </a:t>
            </a:r>
            <a:r>
              <a:rPr>
                <a:latin typeface="Courier"/>
              </a:rPr>
              <a:t>S</a:t>
            </a:r>
            <a:r>
              <a:rPr/>
              <a:t>, </a:t>
            </a:r>
            <a:r>
              <a:rPr>
                <a:latin typeface="Courier"/>
              </a:rPr>
              <a:t>I</a:t>
            </a:r>
            <a:r>
              <a:rPr/>
              <a:t>, </a:t>
            </a:r>
            <a:r>
              <a:rPr>
                <a:latin typeface="Courier"/>
              </a:rPr>
              <a:t>R</a:t>
            </a:r>
          </a:p>
          <a:p>
            <a:pPr lvl="0" indent="-342900" marL="342900">
              <a:buAutoNum type="arabicPeriod"/>
            </a:pPr>
            <a:r>
              <a:rPr/>
              <a:t>Просканировать параметр </a:t>
            </a:r>
            <a:r>
              <a:rPr>
                <a:latin typeface="Courier"/>
              </a:rPr>
              <a:t>beta</a:t>
            </a:r>
          </a:p>
          <a:p>
            <a:pPr lvl="0" indent="-342900" marL="342900">
              <a:buAutoNum type="arabicPeriod"/>
            </a:pPr>
            <a:r>
              <a:rPr/>
              <a:t>Сгенерировать </a:t>
            </a:r>
            <a:r>
              <a:rPr>
                <a:latin typeface="Courier"/>
              </a:rPr>
              <a:t>.jl</a:t>
            </a:r>
            <a:r>
              <a:rPr/>
              <a:t>, </a:t>
            </a:r>
            <a:r>
              <a:rPr>
                <a:latin typeface="Courier"/>
              </a:rPr>
              <a:t>.qmd</a:t>
            </a:r>
            <a:r>
              <a:rPr/>
              <a:t>, </a:t>
            </a:r>
            <a:r>
              <a:rPr>
                <a:latin typeface="Courier"/>
              </a:rPr>
              <a:t>.ipynb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Теоретическое введение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Петри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N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>
                    <a:latin typeface="Courier"/>
                  </a:rPr>
                  <a:t>P</a:t>
                </a:r>
                <a:r>
                  <a:rPr/>
                  <a:t> – позиции</a:t>
                </a:r>
              </a:p>
              <a:p>
                <a:pPr lvl="0"/>
                <a:r>
                  <a:rPr>
                    <a:latin typeface="Courier"/>
                  </a:rPr>
                  <a:t>T</a:t>
                </a:r>
                <a:r>
                  <a:rPr/>
                  <a:t> – переходы</a:t>
                </a:r>
              </a:p>
              <a:p>
                <a:pPr lvl="0"/>
                <a:r>
                  <a:rPr>
                    <a:latin typeface="Courier"/>
                  </a:rPr>
                  <a:t>F</a:t>
                </a:r>
                <a:r>
                  <a:rPr/>
                  <a:t> – дуги</a:t>
                </a:r>
              </a:p>
              <a:p>
                <a:pPr lvl="0"/>
                <a:r>
                  <a:rPr>
                    <a:latin typeface="Courier"/>
                  </a:rPr>
                  <a:t>M_0</a:t>
                </a:r>
                <a:r>
                  <a:rPr/>
                  <a:t> – начальная маркировка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позиции задают состояния</a:t>
            </a:r>
          </a:p>
          <a:p>
            <a:pPr lvl="0"/>
            <a:r>
              <a:rPr/>
              <a:t>переходы задают события</a:t>
            </a:r>
          </a:p>
          <a:p>
            <a:pPr lvl="0"/>
            <a:r>
              <a:rPr/>
              <a:t>фишки задают текущую маркировку</a:t>
            </a:r>
          </a:p>
          <a:p>
            <a:pPr lvl="0"/>
            <a:r>
              <a:rPr/>
              <a:t>срабатывание перехода меняет маркировку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SIR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Состояния:</a:t>
            </a:r>
          </a:p>
          <a:p>
            <a:pPr lvl="0"/>
            <a:r>
              <a:rPr>
                <a:latin typeface="Courier"/>
              </a:rPr>
              <a:t>S</a:t>
            </a:r>
            <a:r>
              <a:rPr/>
              <a:t> – восприимчивые</a:t>
            </a:r>
          </a:p>
          <a:p>
            <a:pPr lvl="0"/>
            <a:r>
              <a:rPr>
                <a:latin typeface="Courier"/>
              </a:rPr>
              <a:t>I</a:t>
            </a:r>
            <a:r>
              <a:rPr/>
              <a:t> – инфицированные</a:t>
            </a:r>
          </a:p>
          <a:p>
            <a:pPr lvl="0"/>
            <a:r>
              <a:rPr>
                <a:latin typeface="Courier"/>
              </a:rPr>
              <a:t>R</a:t>
            </a:r>
            <a:r>
              <a:rPr/>
              <a:t> – выздоровевшие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Переходы:</a:t>
            </a:r>
          </a:p>
          <a:p>
            <a:pPr lvl="0"/>
            <a:r>
              <a:rPr>
                <a:latin typeface="Courier"/>
              </a:rPr>
              <a:t>infection</a:t>
            </a:r>
            <a:r>
              <a:rPr/>
              <a:t>: </a:t>
            </a:r>
            <a:r>
              <a:rPr>
                <a:latin typeface="Courier"/>
              </a:rPr>
              <a:t>S + I -&gt; I + I</a:t>
            </a:r>
          </a:p>
          <a:p>
            <a:pPr lvl="0"/>
            <a:r>
              <a:rPr>
                <a:latin typeface="Courier"/>
              </a:rPr>
              <a:t>recovery</a:t>
            </a:r>
            <a:r>
              <a:rPr/>
              <a:t>: </a:t>
            </a:r>
            <a:r>
              <a:rPr>
                <a:latin typeface="Courier"/>
              </a:rPr>
              <a:t>I -&gt; R</a:t>
            </a:r>
          </a:p>
          <a:p>
            <a:pPr lvl="0" indent="0" marL="0">
              <a:buNone/>
            </a:pPr>
            <a:r>
              <a:rPr/>
              <a:t>Начальная маркировка:</a:t>
            </a:r>
          </a:p>
          <a:p>
            <a:pPr lvl="0" indent="0">
              <a:buNone/>
            </a:pPr>
            <a:r>
              <a:rPr>
                <a:latin typeface="Courier"/>
              </a:rPr>
              <a:t>S = 990, I = 10, R = 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Детерминированная форма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S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β</m:t>
                      </m:r>
                      <m:r>
                        <m:t>S</m:t>
                      </m:r>
                      <m:r>
                        <m:t>I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I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β</m:t>
                      </m:r>
                      <m:r>
                        <m:t>S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γ</m:t>
                      </m:r>
                      <m:r>
                        <m:t>I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R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γ</m:t>
                      </m:r>
                      <m:r>
                        <m:t>I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Эта форма даёт гладкую усреднённую траекторию.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Стохастическая форма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используется прямой метод Гиллеспи</a:t>
            </a:r>
          </a:p>
          <a:p>
            <a:pPr lvl="0"/>
            <a:r>
              <a:rPr/>
              <a:t>на каждом шаге считаются интенсивности событий</a:t>
            </a:r>
          </a:p>
          <a:p>
            <a:pPr lvl="0"/>
            <a:r>
              <a:rPr/>
              <a:t>случайно выбирается время следующего события</a:t>
            </a:r>
          </a:p>
          <a:p>
            <a:pPr lvl="0"/>
            <a:r>
              <a:rPr/>
              <a:t>случайно выбирается переход </a:t>
            </a:r>
            <a:r>
              <a:rPr>
                <a:latin typeface="Courier"/>
              </a:rPr>
              <a:t>infection</a:t>
            </a:r>
            <a:r>
              <a:rPr/>
              <a:t> или </a:t>
            </a:r>
            <a:r>
              <a:rPr>
                <a:latin typeface="Courier"/>
              </a:rPr>
              <a:t>recovery</a:t>
            </a:r>
          </a:p>
          <a:p>
            <a:pPr lvl="0"/>
            <a:r>
              <a:rPr/>
              <a:t>маркировка меняется дискретно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src/SIRPetri.jl</a:t>
            </a:r>
          </a:p>
          <a:p>
            <a:pPr lvl="0"/>
            <a:r>
              <a:rPr>
                <a:latin typeface="Courier"/>
              </a:rPr>
              <a:t>scripts/sirpetri_run.jl</a:t>
            </a:r>
          </a:p>
          <a:p>
            <a:pPr lvl="0"/>
            <a:r>
              <a:rPr>
                <a:latin typeface="Courier"/>
              </a:rPr>
              <a:t>scripts/sirpetri_scan_parameters.jl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scripts/sirpetri_animate.jl</a:t>
            </a:r>
          </a:p>
          <a:p>
            <a:pPr lvl="0"/>
            <a:r>
              <a:rPr>
                <a:latin typeface="Courier"/>
              </a:rPr>
              <a:t>scripts/sirpetri_report.jl</a:t>
            </a:r>
          </a:p>
          <a:p>
            <a:pPr lvl="0"/>
            <a:r>
              <a:rPr>
                <a:latin typeface="Courier"/>
              </a:rPr>
              <a:t>scripts/tangle.jl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Переход в каталог</a:t>
            </a:r>
          </a:p>
        </p:txBody>
      </p:sp>
      <p:pic>
        <p:nvPicPr>
          <p:cNvPr descr="image/screenshots/fig01-cd-proj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55900"/>
            <a:ext cx="8229600" cy="25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Рабочие сценарии запускались из каталога </a:t>
            </a:r>
            <a:r>
              <a:rPr>
                <a:latin typeface="Courier"/>
              </a:rPr>
              <a:t>~/labs/lab06/project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сети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PetriNet</a:t>
            </a:r>
            <a:br/>
            <a:r>
              <a:rPr>
                <a:latin typeface="Courier"/>
              </a:rPr>
              <a:t>    places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Vector{Symbol}</a:t>
            </a:r>
            <a:br/>
            <a:r>
              <a:rPr>
                <a:latin typeface="Courier"/>
              </a:rPr>
              <a:t>    transitions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Vector{Symbol}</a:t>
            </a:r>
            <a:br/>
            <a:r>
              <a:rPr>
                <a:latin typeface="Courier"/>
              </a:rPr>
              <a:t>    pre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Matrix{Int}</a:t>
            </a:r>
            <a:br/>
            <a:r>
              <a:rPr>
                <a:latin typeface="Courier"/>
              </a:rPr>
              <a:t>    post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Matrix{Int}</a:t>
            </a:r>
            <a:br/>
            <a:r>
              <a:rPr>
                <a:latin typeface="Courier"/>
              </a:rPr>
              <a:t>    rates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solidFill>
                  <a:srgbClr val="902000"/>
                </a:solidFill>
                <a:latin typeface="Courier"/>
              </a:rPr>
              <a:t>Vector{Float64}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pre</a:t>
            </a:r>
            <a:r>
              <a:rPr/>
              <a:t> описывает входы переходов, </a:t>
            </a:r>
            <a:r>
              <a:rPr>
                <a:latin typeface="Courier"/>
              </a:rPr>
              <a:t>post</a:t>
            </a:r>
            <a:r>
              <a:rPr/>
              <a:t> описывает выходы переходов.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Переходы SIR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post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Первый столбец задаёт заражение, второй – выздоровление.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Базовый эксперимент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Параметры запуска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beta = 0.3</a:t>
            </a:r>
          </a:p>
          <a:p>
            <a:pPr lvl="0"/>
            <a:r>
              <a:rPr>
                <a:latin typeface="Courier"/>
              </a:rPr>
              <a:t>gamma = 0.1</a:t>
            </a:r>
          </a:p>
          <a:p>
            <a:pPr lvl="0"/>
            <a:r>
              <a:rPr>
                <a:latin typeface="Courier"/>
              </a:rPr>
              <a:t>tmax = 100.0</a:t>
            </a:r>
          </a:p>
          <a:p>
            <a:pPr lvl="0"/>
            <a:r>
              <a:rPr>
                <a:latin typeface="Courier"/>
              </a:rPr>
              <a:t>seed = 123</a:t>
            </a:r>
          </a:p>
          <a:p>
            <a:pPr lvl="0"/>
            <a:r>
              <a:rPr/>
              <a:t>детерминированных строк: </a:t>
            </a:r>
            <a:r>
              <a:rPr>
                <a:latin typeface="Courier"/>
              </a:rPr>
              <a:t>201</a:t>
            </a:r>
          </a:p>
          <a:p>
            <a:pPr lvl="0"/>
            <a:r>
              <a:rPr/>
              <a:t>стохастических строк: </a:t>
            </a:r>
            <a:r>
              <a:rPr>
                <a:latin typeface="Courier"/>
              </a:rPr>
              <a:t>1991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базового сценария</a:t>
            </a:r>
          </a:p>
        </p:txBody>
      </p:sp>
      <p:pic>
        <p:nvPicPr>
          <p:cNvPr descr="image/screenshots/fig02-run-bas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08200"/>
            <a:ext cx="82296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Детерминированная динамика</a:t>
            </a:r>
          </a:p>
        </p:txBody>
      </p:sp>
      <p:pic>
        <p:nvPicPr>
          <p:cNvPr descr="image/generated/sir_det_dynam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детерминированной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максимальное число инфицированных: </a:t>
            </a:r>
            <a:r>
              <a:rPr>
                <a:latin typeface="Courier"/>
              </a:rPr>
              <a:t>952.691</a:t>
            </a:r>
          </a:p>
          <a:p>
            <a:pPr lvl="0"/>
            <a:r>
              <a:rPr/>
              <a:t>время пика: </a:t>
            </a:r>
            <a:r>
              <a:rPr>
                <a:latin typeface="Courier"/>
              </a:rPr>
              <a:t>0.5</a:t>
            </a:r>
          </a:p>
          <a:p>
            <a:pPr lvl="0"/>
            <a:r>
              <a:rPr/>
              <a:t>финальное </a:t>
            </a:r>
            <a:r>
              <a:rPr>
                <a:latin typeface="Courier"/>
              </a:rPr>
              <a:t>S</a:t>
            </a:r>
            <a:r>
              <a:rPr/>
              <a:t> практически равно нулю</a:t>
            </a:r>
          </a:p>
          <a:p>
            <a:pPr lvl="0"/>
            <a:r>
              <a:rPr/>
              <a:t>финальное </a:t>
            </a:r>
            <a:r>
              <a:rPr>
                <a:latin typeface="Courier"/>
              </a:rPr>
              <a:t>I = 0.045</a:t>
            </a:r>
          </a:p>
          <a:p>
            <a:pPr lvl="0"/>
            <a:r>
              <a:rPr/>
              <a:t>финальное </a:t>
            </a:r>
            <a:r>
              <a:rPr>
                <a:latin typeface="Courier"/>
              </a:rPr>
              <a:t>R = 999.955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Стохастическая динамика</a:t>
            </a:r>
          </a:p>
        </p:txBody>
      </p:sp>
      <p:pic>
        <p:nvPicPr>
          <p:cNvPr descr="image/generated/sir_stoch_dynam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стохастической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максимальное число инфицированных: </a:t>
            </a:r>
            <a:r>
              <a:rPr>
                <a:latin typeface="Courier"/>
              </a:rPr>
              <a:t>999</a:t>
            </a:r>
          </a:p>
          <a:p>
            <a:pPr lvl="0"/>
            <a:r>
              <a:rPr/>
              <a:t>время пика: </a:t>
            </a:r>
            <a:r>
              <a:rPr>
                <a:latin typeface="Courier"/>
              </a:rPr>
              <a:t>0.037</a:t>
            </a:r>
          </a:p>
          <a:p>
            <a:pPr lvl="0"/>
            <a:r>
              <a:rPr/>
              <a:t>процесс завершился при </a:t>
            </a:r>
            <a:r>
              <a:rPr>
                <a:latin typeface="Courier"/>
              </a:rPr>
              <a:t>t = 64.352</a:t>
            </a:r>
          </a:p>
          <a:p>
            <a:pPr lvl="0"/>
            <a:r>
              <a:rPr/>
              <a:t>финальное состояние: </a:t>
            </a:r>
            <a:r>
              <a:rPr>
                <a:latin typeface="Courier"/>
              </a:rPr>
              <a:t>S = 0</a:t>
            </a:r>
            <a:r>
              <a:rPr/>
              <a:t>, </a:t>
            </a:r>
            <a:r>
              <a:rPr>
                <a:latin typeface="Courier"/>
              </a:rPr>
              <a:t>I = 0</a:t>
            </a:r>
            <a:r>
              <a:rPr/>
              <a:t>, </a:t>
            </a:r>
            <a:r>
              <a:rPr>
                <a:latin typeface="Courier"/>
              </a:rPr>
              <a:t>R = 1000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Анализ параметров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Сканирование beta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фиксировано </a:t>
            </a:r>
            <a:r>
              <a:rPr>
                <a:latin typeface="Courier"/>
              </a:rPr>
              <a:t>gamma = 0.1</a:t>
            </a:r>
          </a:p>
          <a:p>
            <a:pPr lvl="0"/>
            <a:r>
              <a:rPr/>
              <a:t>проверены значения </a:t>
            </a:r>
            <a:r>
              <a:rPr>
                <a:latin typeface="Courier"/>
              </a:rPr>
              <a:t>beta</a:t>
            </a:r>
            <a:r>
              <a:rPr/>
              <a:t> от </a:t>
            </a:r>
            <a:r>
              <a:rPr>
                <a:latin typeface="Courier"/>
              </a:rPr>
              <a:t>0.10</a:t>
            </a:r>
            <a:r>
              <a:rPr/>
              <a:t> до </a:t>
            </a:r>
            <a:r>
              <a:rPr>
                <a:latin typeface="Courier"/>
              </a:rPr>
              <a:t>0.80</a:t>
            </a:r>
          </a:p>
          <a:p>
            <a:pPr lvl="0"/>
            <a:r>
              <a:rPr/>
              <a:t>шаг сетки: </a:t>
            </a:r>
            <a:r>
              <a:rPr>
                <a:latin typeface="Courier"/>
              </a:rPr>
              <a:t>0.05</a:t>
            </a:r>
          </a:p>
          <a:p>
            <a:pPr lvl="0"/>
            <a:r>
              <a:rPr/>
              <a:t>всего строк в таблице: </a:t>
            </a:r>
            <a:r>
              <a:rPr>
                <a:latin typeface="Courier"/>
              </a:rPr>
              <a:t>15</a:t>
            </a:r>
          </a:p>
          <a:p>
            <a:pPr lvl="0"/>
            <a:r>
              <a:rPr/>
              <a:t>результат сохранён в </a:t>
            </a:r>
            <a:r>
              <a:rPr>
                <a:latin typeface="Courier"/>
              </a:rPr>
              <a:t>data/sir_scan.csv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сканирования beta</a:t>
            </a:r>
          </a:p>
        </p:txBody>
      </p:sp>
      <p:pic>
        <p:nvPicPr>
          <p:cNvPr descr="image/screenshots/fig03-run-sc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74900"/>
            <a:ext cx="82296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 чувствительности</a:t>
            </a:r>
          </a:p>
        </p:txBody>
      </p:sp>
      <p:pic>
        <p:nvPicPr>
          <p:cNvPr descr="image/generated/sir_sc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 по beta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пик </a:t>
            </a:r>
            <a:r>
              <a:rPr>
                <a:latin typeface="Courier"/>
              </a:rPr>
              <a:t>I</a:t>
            </a:r>
            <a:r>
              <a:rPr/>
              <a:t> лежит в диапазоне </a:t>
            </a:r>
            <a:r>
              <a:rPr>
                <a:latin typeface="Courier"/>
              </a:rPr>
              <a:t>951.778 .. 955.626</a:t>
            </a:r>
          </a:p>
          <a:p>
            <a:pPr lvl="0"/>
            <a:r>
              <a:rPr/>
              <a:t>финальное </a:t>
            </a:r>
            <a:r>
              <a:rPr>
                <a:latin typeface="Courier"/>
              </a:rPr>
              <a:t>R</a:t>
            </a:r>
            <a:r>
              <a:rPr/>
              <a:t> остаётся около </a:t>
            </a:r>
            <a:r>
              <a:rPr>
                <a:latin typeface="Courier"/>
              </a:rPr>
              <a:t>999.954</a:t>
            </a:r>
          </a:p>
          <a:p>
            <a:pPr lvl="0"/>
            <a:r>
              <a:rPr/>
              <a:t>для всех проверенных </a:t>
            </a:r>
            <a:r>
              <a:rPr>
                <a:latin typeface="Courier"/>
              </a:rPr>
              <a:t>beta</a:t>
            </a:r>
            <a:r>
              <a:rPr/>
              <a:t> эпидемия охватывает почти всю популяцию</a:t>
            </a:r>
          </a:p>
          <a:p>
            <a:pPr lvl="0"/>
            <a:r>
              <a:rPr/>
              <a:t>высокая скорость заражения связана с формой интенсивности </a:t>
            </a:r>
            <a:r>
              <a:rPr>
                <a:latin typeface="Courier"/>
              </a:rPr>
              <a:t>beta * S * I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Итоговые материалы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траекторий</a:t>
            </a:r>
          </a:p>
        </p:txBody>
      </p:sp>
      <p:pic>
        <p:nvPicPr>
          <p:cNvPr descr="image/generated/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отчётного сценария</a:t>
            </a:r>
          </a:p>
        </p:txBody>
      </p:sp>
      <p:pic>
        <p:nvPicPr>
          <p:cNvPr descr="image/screenshots/fig05-run-re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514600"/>
            <a:ext cx="82296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Пик инфицированных</a:t>
            </a:r>
          </a:p>
        </p:txBody>
      </p:sp>
      <p:pic>
        <p:nvPicPr>
          <p:cNvPr descr="image/generated/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Анимация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Файл результата:</a:t>
            </a:r>
          </a:p>
          <a:p>
            <a:pPr lvl="0" indent="0">
              <a:buNone/>
            </a:pPr>
            <a:r>
              <a:rPr>
                <a:latin typeface="Courier"/>
              </a:rPr>
              <a:t>plots/sir_animation.gif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показывает маркировку </a:t>
            </a:r>
            <a:r>
              <a:rPr>
                <a:latin typeface="Courier"/>
              </a:rPr>
              <a:t>S</a:t>
            </a:r>
            <a:r>
              <a:rPr/>
              <a:t>, </a:t>
            </a:r>
            <a:r>
              <a:rPr>
                <a:latin typeface="Courier"/>
              </a:rPr>
              <a:t>I</a:t>
            </a:r>
            <a:r>
              <a:rPr/>
              <a:t>, </a:t>
            </a:r>
            <a:r>
              <a:rPr>
                <a:latin typeface="Courier"/>
              </a:rPr>
              <a:t>R</a:t>
            </a:r>
          </a:p>
          <a:p>
            <a:pPr lvl="0"/>
            <a:r>
              <a:rPr/>
              <a:t>строится по детерминированной траектории</a:t>
            </a:r>
          </a:p>
          <a:p>
            <a:pPr lvl="0"/>
            <a:r>
              <a:rPr/>
              <a:t>удобна для демонстрации переходов сети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анимации</a:t>
            </a:r>
          </a:p>
        </p:txBody>
      </p:sp>
      <p:pic>
        <p:nvPicPr>
          <p:cNvPr descr="image/screenshots/fig04-run-anim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17800"/>
            <a:ext cx="8229600" cy="34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Literate-версии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каждого сценария получены:</a:t>
            </a:r>
          </a:p>
          <a:p>
            <a:pPr lvl="0"/>
            <a:r>
              <a:rPr/>
              <a:t>clean-скрипт </a:t>
            </a:r>
            <a:r>
              <a:rPr>
                <a:latin typeface="Courier"/>
              </a:rPr>
              <a:t>.jl</a:t>
            </a:r>
          </a:p>
          <a:p>
            <a:pPr lvl="0"/>
            <a:r>
              <a:rPr/>
              <a:t>Quarto-документ </a:t>
            </a:r>
            <a:r>
              <a:rPr>
                <a:latin typeface="Courier"/>
              </a:rPr>
              <a:t>.qmd</a:t>
            </a:r>
          </a:p>
          <a:p>
            <a:pPr lvl="0"/>
            <a:r>
              <a:rPr/>
              <a:t>Jupyter notebook </a:t>
            </a:r>
            <a:r>
              <a:rPr>
                <a:latin typeface="Courier"/>
              </a:rPr>
              <a:t>.ipynb</a:t>
            </a:r>
          </a:p>
          <a:p>
            <a:pPr lvl="0" indent="0" marL="0">
              <a:buNone/>
            </a:pPr>
            <a:r>
              <a:rPr/>
              <a:t>Сценарии:</a:t>
            </a:r>
          </a:p>
          <a:p>
            <a:pPr lvl="0"/>
            <a:r>
              <a:rPr>
                <a:latin typeface="Courier"/>
              </a:rPr>
              <a:t>sirpetri_run</a:t>
            </a:r>
          </a:p>
          <a:p>
            <a:pPr lvl="0"/>
            <a:r>
              <a:rPr>
                <a:latin typeface="Courier"/>
              </a:rPr>
              <a:t>sirpetri_scan_parameters</a:t>
            </a:r>
          </a:p>
          <a:p>
            <a:pPr lvl="0"/>
            <a:r>
              <a:rPr>
                <a:latin typeface="Courier"/>
              </a:rPr>
              <a:t>sirpetri_animate</a:t>
            </a:r>
          </a:p>
          <a:p>
            <a:pPr lvl="0"/>
            <a:r>
              <a:rPr>
                <a:latin typeface="Courier"/>
              </a:rPr>
              <a:t>sirpetri_report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Генерация literate-файлов</a:t>
            </a:r>
          </a:p>
        </p:txBody>
      </p:sp>
      <p:pic>
        <p:nvPicPr>
          <p:cNvPr descr="image/screenshots/fig06-run-tang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31900" y="1193800"/>
            <a:ext cx="669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итоговых файлов</a:t>
            </a:r>
          </a:p>
        </p:txBody>
      </p:sp>
      <p:pic>
        <p:nvPicPr>
          <p:cNvPr descr="image/screenshots/fig07-check-fi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32000"/>
            <a:ext cx="82296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SIR-модель реализована как сеть Петри</a:t>
            </a:r>
          </a:p>
          <a:p>
            <a:pPr lvl="0"/>
            <a:r>
              <a:rPr/>
              <a:t>построены детерминированная и стохастическая симуляции</a:t>
            </a:r>
          </a:p>
          <a:p>
            <a:pPr lvl="0"/>
            <a:r>
              <a:rPr/>
              <a:t>сохранены CSV-файлы и графики</a:t>
            </a:r>
          </a:p>
          <a:p>
            <a:pPr lvl="0"/>
            <a:r>
              <a:rPr/>
              <a:t>проведено исследование по </a:t>
            </a:r>
            <a:r>
              <a:rPr>
                <a:latin typeface="Courier"/>
              </a:rPr>
              <a:t>beta</a:t>
            </a:r>
          </a:p>
          <a:p>
            <a:pPr lvl="0"/>
            <a:r>
              <a:rPr/>
              <a:t>создана GIF-анимация маркировки</a:t>
            </a:r>
          </a:p>
          <a:p>
            <a:pPr lvl="0"/>
            <a:r>
              <a:rPr/>
              <a:t>подготовлены literate-представления сценариев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SIR естественно описывается сетью Петри с двумя переходами: заражением и выздоровлением. Детерминированная форма даёт гладкую динамику, а стохастическая форма показывает дискретные события, но обе модели демонстрируют один и тот же процесс распространения инфекции.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</dc:title>
  <dc:creator>Глущенко Евгений Игоревич</dc:creator>
  <cp:keywords/>
  <dcterms:created xsi:type="dcterms:W3CDTF">2026-05-01T11:54:32Z</dcterms:created>
  <dcterms:modified xsi:type="dcterms:W3CDTF">2026-05-01T11:54:32Z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2026-05-01</vt:lpwstr>
  </property>
  <property fmtid="{D5CDD505-2E9C-101B-9397-08002B2CF9AE}" pid="9" name="date-format">
    <vt:lpwstr>YYYY-MM-DD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cense">
    <vt:lpwstr/>
  </property>
  <property fmtid="{D5CDD505-2E9C-101B-9397-08002B2CF9AE}" pid="16" name="subtitle">
    <vt:lpwstr>Лабораторная работа №6. Реализация модели SIR в подходе сетей Петри</vt:lpwstr>
  </property>
  <property fmtid="{D5CDD505-2E9C-101B-9397-08002B2CF9AE}" pid="17" name="toc-title">
    <vt:lpwstr>Содержание</vt:lpwstr>
  </property>
</Properties>
</file>