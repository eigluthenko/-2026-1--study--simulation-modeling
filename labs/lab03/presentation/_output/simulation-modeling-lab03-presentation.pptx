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1" Type="http://schemas.openxmlformats.org/officeDocument/2006/relationships/viewProps" Target="viewProps.xml" /><Relationship Id="rId8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3" Type="http://schemas.openxmlformats.org/officeDocument/2006/relationships/tableStyles" Target="tableStyles.xml" /><Relationship Id="rId8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4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5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6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7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8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9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0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1.pn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2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3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4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5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6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№3. Агентное моделирование: модель Daisyworld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Российский университет дружбы народов имени Патриса Лумумбы</a:t>
            </a:r>
          </a:p>
          <a:p>
            <a:pPr lvl="0"/>
            <a:r>
              <a:rPr/>
              <a:t>студенческий билет: 1132239110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работе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Дисциплина: имитационное моделирование</a:t>
            </a:r>
          </a:p>
          <a:p>
            <a:pPr lvl="0"/>
            <a:r>
              <a:rPr/>
              <a:t>Тема: агентная модель Daisyworld</a:t>
            </a:r>
          </a:p>
          <a:p>
            <a:pPr lvl="0"/>
            <a:r>
              <a:rPr/>
              <a:t>Средства реализации: Julia, Agents.jl, DrWatson, CairoMakie, Literate.jl</a:t>
            </a:r>
          </a:p>
          <a:p>
            <a:pPr lvl="0"/>
            <a:r>
              <a:rPr/>
              <a:t>Результат: воспроизводимый проект, отчёт и презентация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принципы агентного моделирования</a:t>
            </a:r>
          </a:p>
          <a:p>
            <a:pPr lvl="0"/>
            <a:r>
              <a:rPr/>
              <a:t>Реализовать модель Daisyworld с использованием </a:t>
            </a:r>
            <a:r>
              <a:rPr>
                <a:latin typeface="Courier"/>
              </a:rPr>
              <a:t>Agents.jl</a:t>
            </a:r>
          </a:p>
          <a:p>
            <a:pPr lvl="0"/>
            <a:r>
              <a:rPr/>
              <a:t>Исследовать саморегуляцию системы при разных параметрах</a:t>
            </a:r>
          </a:p>
          <a:p>
            <a:pPr lvl="0"/>
            <a:r>
              <a:rPr/>
              <a:t>Подготовить воспроизводимые материалы с помощью литературного программирования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Подготовить Julia-проект и окружение </a:t>
            </a:r>
            <a:r>
              <a:rPr>
                <a:latin typeface="Courier"/>
              </a:rPr>
              <a:t>DrWatson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Реализовать базовую модель Daisyworld.</a:t>
            </a:r>
          </a:p>
          <a:p>
            <a:pPr lvl="0" indent="-342900" marL="342900">
              <a:buAutoNum type="arabicPeriod"/>
            </a:pPr>
            <a:r>
              <a:rPr/>
              <a:t>Построить статические визуализации и анимацию.</a:t>
            </a:r>
          </a:p>
          <a:p>
            <a:pPr lvl="0" indent="-342900" marL="342900">
              <a:buAutoNum type="arabicPeriod"/>
            </a:pPr>
            <a:r>
              <a:rPr/>
              <a:t>Исследовать динамику численности и полную динамику со светимостью.</a:t>
            </a:r>
          </a:p>
          <a:p>
            <a:pPr lvl="0" indent="-342900" marL="342900">
              <a:buAutoNum type="arabicPeriod"/>
            </a:pPr>
            <a:r>
              <a:rPr/>
              <a:t>Выполнить параметрическое исследование по </a:t>
            </a:r>
            <a:r>
              <a:rPr>
                <a:latin typeface="Courier"/>
              </a:rPr>
              <a:t>init_white</a:t>
            </a:r>
            <a:r>
              <a:rPr/>
              <a:t> и </a:t>
            </a:r>
            <a:r>
              <a:rPr>
                <a:latin typeface="Courier"/>
              </a:rPr>
              <a:t>max_age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Сгенерировать производные форматы </a:t>
            </a:r>
            <a:r>
              <a:rPr>
                <a:latin typeface="Courier"/>
              </a:rPr>
              <a:t>script</a:t>
            </a:r>
            <a:r>
              <a:rPr/>
              <a:t>, </a:t>
            </a:r>
            <a:r>
              <a:rPr>
                <a:latin typeface="Courier"/>
              </a:rPr>
              <a:t>notebook</a:t>
            </a:r>
            <a:r>
              <a:rPr/>
              <a:t>, </a:t>
            </a:r>
            <a:r>
              <a:rPr>
                <a:latin typeface="Courier"/>
              </a:rPr>
              <a:t>markdown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Теоретическое введение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Агентное моделирование (ABM)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Система описывается как множество взаимодействующих агентов</a:t>
            </a:r>
          </a:p>
          <a:p>
            <a:pPr lvl="0"/>
            <a:r>
              <a:rPr/>
              <a:t>Поведение каждого агента задаётся локальными правилами</a:t>
            </a:r>
          </a:p>
          <a:p>
            <a:pPr lvl="0"/>
            <a:r>
              <a:rPr/>
              <a:t>Глобальная динамика возникает как результат локальных взаимодействий</a:t>
            </a:r>
          </a:p>
          <a:p>
            <a:pPr lvl="0"/>
            <a:r>
              <a:rPr/>
              <a:t>Для реализации использован пакет </a:t>
            </a:r>
            <a:r>
              <a:rPr>
                <a:latin typeface="Courier"/>
              </a:rPr>
              <a:t>Agents.jl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Daisyworld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Рассматриваются два типа маргариток: чёрные и белые</a:t>
            </a:r>
          </a:p>
          <a:p>
            <a:pPr lvl="0"/>
            <a:r>
              <a:rPr/>
              <a:t>Чёрные маргаритки сильнее нагревают поверхность, белые сильнее отражают свет</a:t>
            </a:r>
          </a:p>
          <a:p>
            <a:pPr lvl="0"/>
            <a:r>
              <a:rPr/>
              <a:t>Через альбедо возникает обратная связь между популяцией и температурой</a:t>
            </a:r>
          </a:p>
          <a:p>
            <a:pPr lvl="0"/>
            <a:r>
              <a:rPr/>
              <a:t>Модель демонстрирует механизм климатической саморегуляции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соотношения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Альбедо чёрных маргариток: </a:t>
                </a: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0.25</m:t>
                    </m:r>
                  </m:oMath>
                </a14:m>
              </a:p>
              <a:p>
                <a:pPr lvl="0"/>
                <a:r>
                  <a:rPr/>
                  <a:t>Альбедо белых маргариток: </a:t>
                </a: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w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</a:p>
              <a:p>
                <a:pPr lvl="0"/>
                <a:r>
                  <a:rPr/>
                  <a:t>Температура: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72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80</m:t>
                      </m:r>
                    </m:oMath>
                  </m:oMathPara>
                </a14:m>
              </a:p>
              <a:p>
                <a:pPr lvl="0"/>
                <a:r>
                  <a:rPr/>
                  <a:t>Порог размножения: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0.1457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0.0032</m:t>
                      </m:r>
                      <m:sSup>
                        <m:e>
                          <m:r>
                            <m:t>T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−</m:t>
                      </m:r>
                      <m:r>
                        <m:t>0.6443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окружения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Julia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интерпретатора </a:t>
            </a:r>
            <a:r>
              <a:rPr>
                <a:latin typeface="Courier"/>
              </a:rPr>
              <a:t>Julia REPL</a:t>
            </a:r>
            <a:r>
              <a:rPr/>
              <a:t> из каталога проекта.</a:t>
            </a:r>
          </a:p>
        </p:txBody>
      </p:sp>
      <p:pic>
        <p:nvPicPr>
          <p:cNvPr descr="image/fig01-julia-st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Активация проекта и пакетов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Подключение </a:t>
            </a:r>
            <a:r>
              <a:rPr>
                <a:latin typeface="Courier"/>
              </a:rPr>
              <a:t>Pkg</a:t>
            </a:r>
            <a:r>
              <a:rPr/>
              <a:t>, активация окружения проекта и проверка зависимостей.</a:t>
            </a:r>
          </a:p>
        </p:txBody>
      </p:sp>
      <p:pic>
        <p:nvPicPr>
          <p:cNvPr descr="image/fig02-pkg-set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Подготовленное окружение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Использован проект на основе </a:t>
            </a:r>
            <a:r>
              <a:rPr>
                <a:latin typeface="Courier"/>
              </a:rPr>
              <a:t>DrWatson</a:t>
            </a:r>
          </a:p>
          <a:p>
            <a:pPr lvl="0"/>
            <a:r>
              <a:rPr/>
              <a:t>Подключены </a:t>
            </a:r>
            <a:r>
              <a:rPr>
                <a:latin typeface="Courier"/>
              </a:rPr>
              <a:t>Agents</a:t>
            </a:r>
            <a:r>
              <a:rPr/>
              <a:t>, </a:t>
            </a:r>
            <a:r>
              <a:rPr>
                <a:latin typeface="Courier"/>
              </a:rPr>
              <a:t>CairoMakie</a:t>
            </a:r>
            <a:r>
              <a:rPr/>
              <a:t>, </a:t>
            </a:r>
            <a:r>
              <a:rPr>
                <a:latin typeface="Courier"/>
              </a:rPr>
              <a:t>Literate</a:t>
            </a:r>
            <a:r>
              <a:rPr/>
              <a:t>, </a:t>
            </a:r>
            <a:r>
              <a:rPr>
                <a:latin typeface="Courier"/>
              </a:rPr>
              <a:t>IJulia</a:t>
            </a:r>
            <a:r>
              <a:rPr/>
              <a:t>, </a:t>
            </a:r>
            <a:r>
              <a:rPr>
                <a:latin typeface="Courier"/>
              </a:rPr>
              <a:t>StatsBase</a:t>
            </a:r>
          </a:p>
          <a:p>
            <a:pPr lvl="0"/>
            <a:r>
              <a:rPr/>
              <a:t>Выполнена предкомпиляция зависимостей</a:t>
            </a:r>
          </a:p>
          <a:p>
            <a:pPr lvl="0"/>
            <a:r>
              <a:rPr/>
              <a:t>Подготовлены каталоги </a:t>
            </a:r>
            <a:r>
              <a:rPr>
                <a:latin typeface="Courier"/>
              </a:rPr>
              <a:t>src</a:t>
            </a:r>
            <a:r>
              <a:rPr/>
              <a:t>, </a:t>
            </a:r>
            <a:r>
              <a:rPr>
                <a:latin typeface="Courier"/>
              </a:rPr>
              <a:t>scripts</a:t>
            </a:r>
            <a:r>
              <a:rPr/>
              <a:t>, </a:t>
            </a:r>
            <a:r>
              <a:rPr>
                <a:latin typeface="Courier"/>
              </a:rPr>
              <a:t>plots</a:t>
            </a:r>
            <a:r>
              <a:rPr/>
              <a:t>, </a:t>
            </a:r>
            <a:r>
              <a:rPr>
                <a:latin typeface="Courier"/>
              </a:rPr>
              <a:t>notebooks</a:t>
            </a:r>
            <a:r>
              <a:rPr/>
              <a:t>, </a:t>
            </a:r>
            <a:r>
              <a:rPr>
                <a:latin typeface="Courier"/>
              </a:rPr>
              <a:t>docs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Базовая визуализация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daisyworld.jl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Скрипт строит тепловые карты состояния модели на выбранных шагах симуляции.</a:t>
            </a:r>
          </a:p>
        </p:txBody>
      </p:sp>
      <p:pic>
        <p:nvPicPr>
          <p:cNvPr descr="image/fig03-daisyworld-bas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209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Тепловая карта: шаг 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Начальное состояние модели: случайное распределение чёрных и белых маргариток.</a:t>
            </a:r>
          </a:p>
        </p:txBody>
      </p:sp>
      <p:pic>
        <p:nvPicPr>
          <p:cNvPr descr="image/generated/daisy_step0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Тепловая карта: шаг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первого обновления уже заметны локальные перестройки распределения.</a:t>
            </a:r>
          </a:p>
        </p:txBody>
      </p:sp>
      <p:pic>
        <p:nvPicPr>
          <p:cNvPr descr="image/generated/daisy_step0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Тепловая карта: шаг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Маргаритки начинают формировать устойчивые кластеры.</a:t>
            </a:r>
          </a:p>
        </p:txBody>
      </p:sp>
      <p:pic>
        <p:nvPicPr>
          <p:cNvPr descr="image/generated/daisy_step0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Тепловая карта: шаг 40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Система выходит на режим динамического равновесия.</a:t>
            </a:r>
          </a:p>
        </p:txBody>
      </p:sp>
      <p:pic>
        <p:nvPicPr>
          <p:cNvPr descr="image/generated/daisy_step0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чистый исполняемый скрипт</a:t>
            </a:r>
          </a:p>
          <a:p>
            <a:pPr lvl="0"/>
            <a:r>
              <a:rPr/>
              <a:t>Результат помещён в каталог </a:t>
            </a:r>
            <a:r>
              <a:rPr>
                <a:latin typeface="Courier"/>
              </a:rPr>
              <a:t>scripts/daisyworld/</a:t>
            </a:r>
          </a:p>
          <a:p>
            <a:pPr lvl="0"/>
            <a:r>
              <a:rPr/>
              <a:t>Такой формат удобен для повторного запуска без комментариев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Результат помещён в каталог </a:t>
            </a:r>
            <a:r>
              <a:rPr>
                <a:latin typeface="Courier"/>
              </a:rPr>
              <a:t>notebooks/daisyworld/</a:t>
            </a:r>
          </a:p>
          <a:p>
            <a:pPr lvl="0"/>
            <a:r>
              <a:rPr/>
              <a:t>Формат подходит для интерактивного запуска и демонстрации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Сгенерирована Markdown-документация</a:t>
            </a:r>
          </a:p>
          <a:p>
            <a:pPr lvl="0"/>
            <a:r>
              <a:rPr/>
              <a:t>Результат помещён в каталог </a:t>
            </a:r>
            <a:r>
              <a:rPr>
                <a:latin typeface="Courier"/>
              </a:rPr>
              <a:t>docs/daisyworld/</a:t>
            </a:r>
          </a:p>
          <a:p>
            <a:pPr lvl="0"/>
            <a:r>
              <a:rPr/>
              <a:t>Этот формат использован для литературного представления кода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Анимация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daisyworld-animate.jl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Скрипт создаёт анимацию эволюции модели во времени.</a:t>
            </a:r>
          </a:p>
        </p:txBody>
      </p:sp>
      <p:pic>
        <p:nvPicPr>
          <p:cNvPr descr="image/fig04-daisyworld-anim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86000"/>
            <a:ext cx="5105400" cy="22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 анимации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Получен файл </a:t>
            </a:r>
            <a:r>
              <a:rPr>
                <a:latin typeface="Courier"/>
              </a:rPr>
              <a:t>daisyworld_animation.mp4</a:t>
            </a:r>
          </a:p>
          <a:p>
            <a:pPr lvl="0"/>
            <a:r>
              <a:rPr/>
              <a:t>Анимация содержит последовательность кадров эволюции пространственной структуры</a:t>
            </a:r>
          </a:p>
          <a:p>
            <a:pPr lvl="0"/>
            <a:r>
              <a:rPr/>
              <a:t>Видео показывает формирование и перестройку кластеров маргариток</a:t>
            </a:r>
          </a:p>
        </p:txBody>
      </p:sp>
      <p:pic>
        <p:nvPicPr>
          <p:cNvPr descr="image/generated/daisy_step0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Динамика числа маргариток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daisyworld-count.jl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Выполняется моделирование на 100 шагах</a:t>
            </a:r>
          </a:p>
          <a:p>
            <a:pPr lvl="0"/>
            <a:r>
              <a:rPr/>
              <a:t>Сохраняются временные ряды численности чёрных и белых маргариток</a:t>
            </a:r>
          </a:p>
          <a:p>
            <a:pPr lvl="0"/>
            <a:r>
              <a:rPr/>
              <a:t>Строится итоговый график популяционной динамики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График динамики числа маргариток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Численности обоих типов маргариток изменяются и затем стабилизируются.</a:t>
            </a:r>
          </a:p>
        </p:txBody>
      </p:sp>
      <p:pic>
        <p:nvPicPr>
          <p:cNvPr descr="image/generated/daisy_count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daisyworld-count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чистый скрипт динамики численности</a:t>
            </a:r>
          </a:p>
          <a:p>
            <a:pPr lvl="0"/>
            <a:r>
              <a:rPr/>
              <a:t>Файл помещён в </a:t>
            </a:r>
            <a:r>
              <a:rPr>
                <a:latin typeface="Courier"/>
              </a:rPr>
              <a:t>scripts/daisyworld-count/</a:t>
            </a:r>
          </a:p>
          <a:p>
            <a:pPr lvl="0"/>
            <a:r>
              <a:rPr/>
              <a:t>Возможен независимый запуск вне литературной версии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daisyworld-count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Сформирована Markdown-документация сценария</a:t>
            </a:r>
          </a:p>
          <a:p>
            <a:pPr lvl="0"/>
            <a:r>
              <a:rPr/>
              <a:t>Файл помещён в </a:t>
            </a:r>
            <a:r>
              <a:rPr>
                <a:latin typeface="Courier"/>
              </a:rPr>
              <a:t>docs/daisyworld-count/</a:t>
            </a:r>
          </a:p>
          <a:p>
            <a:pPr lvl="0"/>
            <a:r>
              <a:rPr/>
              <a:t>Текст содержит описание и код в одном документе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daisyworld-count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Сформирован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Файл помещён в </a:t>
            </a:r>
            <a:r>
              <a:rPr>
                <a:latin typeface="Courier"/>
              </a:rPr>
              <a:t>notebooks/daisyworld-count/</a:t>
            </a:r>
          </a:p>
          <a:p>
            <a:pPr lvl="0"/>
            <a:r>
              <a:rPr/>
              <a:t>Ноутбук можно использовать для интерактивного анализа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Полная динамика (ramp)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daisyworld-luminosity.jl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Используется сценарий </a:t>
            </a:r>
            <a:r>
              <a:rPr>
                <a:latin typeface="Courier"/>
              </a:rPr>
              <a:t>ramp</a:t>
            </a:r>
          </a:p>
          <a:p>
            <a:pPr lvl="0"/>
            <a:r>
              <a:rPr/>
              <a:t>Меняется светимость, строятся графики численности, температуры и светимости</a:t>
            </a:r>
          </a:p>
          <a:p>
            <a:pPr lvl="0"/>
            <a:r>
              <a:rPr/>
              <a:t>Выполняется длительное моделирование на 1000 шагах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Трёхпанельный график динамики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Одновременно анализируются популяция, температура и внешняя светимость.</a:t>
            </a:r>
          </a:p>
        </p:txBody>
      </p:sp>
      <p:pic>
        <p:nvPicPr>
          <p:cNvPr descr="image/generated/daisy_luminosity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daisyworld-luminosity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исполняемый скрипт полной динамики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scripts/daisyworld-luminosity/</a:t>
            </a:r>
          </a:p>
          <a:p>
            <a:pPr lvl="0"/>
            <a:r>
              <a:rPr/>
              <a:t>Формат удобен для повторного пакетного запуска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daisyworld-luminosity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Сгенерирована Markdown-документация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docs/daisyworld-luminosity/</a:t>
            </a:r>
          </a:p>
          <a:p>
            <a:pPr lvl="0"/>
            <a:r>
              <a:rPr/>
              <a:t>Документ отражает логику построения полной динамики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daisyworld-luminosity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notebooks/daisyworld-luminosity/</a:t>
            </a:r>
          </a:p>
          <a:p>
            <a:pPr lvl="0"/>
            <a:r>
              <a:rPr/>
              <a:t>Формат удобен для покадрового анализа вычислений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Визуализация с параметрами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daisyworld__param.jl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Исследуются четыре комбинации параметров:</a:t>
            </a:r>
          </a:p>
          <a:p>
            <a:pPr lvl="0"/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</a:p>
          <a:p>
            <a:pPr lvl="0"/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</a:p>
          <a:p>
            <a:pPr lvl="0"/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</a:p>
          <a:p>
            <a:pPr lvl="0"/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</a:p>
        </p:txBody>
      </p:sp>
      <p:pic>
        <p:nvPicPr>
          <p:cNvPr descr="image/fig05-daisyworld-param-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87500"/>
            <a:ext cx="5105400" cy="161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Распределение начинает перестраиваться от исходного случайного состояния.</a:t>
            </a:r>
          </a:p>
        </p:txBody>
      </p:sp>
      <p:pic>
        <p:nvPicPr>
          <p:cNvPr descr="image/generated/daisyworld_init_white=0.2_max_age=25.png_step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Появляются выраженные локальные кластеры.</a:t>
            </a:r>
          </a:p>
        </p:txBody>
      </p:sp>
      <p:pic>
        <p:nvPicPr>
          <p:cNvPr descr="image/generated/daisyworld_init_white=0.2_max_age=25.png_step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40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вариант выходит на устойчивое распределение.</a:t>
            </a:r>
          </a:p>
        </p:txBody>
      </p:sp>
      <p:pic>
        <p:nvPicPr>
          <p:cNvPr descr="image/generated/daisyworld_init_white=0.2_max_age=25.png_step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Увеличенный возраст делает систему более инерционной уже в начале процесса.</a:t>
            </a:r>
          </a:p>
        </p:txBody>
      </p:sp>
      <p:pic>
        <p:nvPicPr>
          <p:cNvPr descr="image/generated/daisyworld_init_white=0.2_max_age=40.png_step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Кластеры формируются при более долгом жизненном цикле агентов.</a:t>
            </a:r>
          </a:p>
        </p:txBody>
      </p:sp>
      <p:pic>
        <p:nvPicPr>
          <p:cNvPr descr="image/generated/daisyworld_init_white=0.2_max_age=40.png_step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40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Заполнение пространства становится более плотным.</a:t>
            </a:r>
          </a:p>
        </p:txBody>
      </p:sp>
      <p:pic>
        <p:nvPicPr>
          <p:cNvPr descr="image/generated/daisyworld_init_white=0.2_max_age=40.png_step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Высокая доля белых маргариток охлаждает поверхность в начальный момент.</a:t>
            </a:r>
          </a:p>
        </p:txBody>
      </p:sp>
      <p:pic>
        <p:nvPicPr>
          <p:cNvPr descr="image/generated/daisyworld_init_white=0.8_max_age=25.png_step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Чёрные маргаритки постепенно компенсируют начальное смещение.</a:t>
            </a:r>
          </a:p>
        </p:txBody>
      </p:sp>
      <p:pic>
        <p:nvPicPr>
          <p:cNvPr descr="image/generated/daisyworld_init_white=0.8_max_age=25.png_step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шаг 40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Система стремится к конфигурации, близкой к базовому равновесию.</a:t>
            </a:r>
          </a:p>
        </p:txBody>
      </p:sp>
      <p:pic>
        <p:nvPicPr>
          <p:cNvPr descr="image/generated/daisyworld_init_white=0.8_max_age=25.png_step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Белые маргаритки преобладают почти на всём поле.</a:t>
            </a:r>
          </a:p>
        </p:txBody>
      </p:sp>
      <p:pic>
        <p:nvPicPr>
          <p:cNvPr descr="image/generated/daisyworld_init_white=0.8_max_age=40.png_step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 большом возрасте начальные условия сохраняются дольше.</a:t>
            </a:r>
          </a:p>
        </p:txBody>
      </p:sp>
      <p:pic>
        <p:nvPicPr>
          <p:cNvPr descr="image/generated/daisyworld_init_white=0.8_max_age=40.png_step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шаг 40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Это наиболее медленный переход к равновесию среди рассмотренных случаев.</a:t>
            </a:r>
          </a:p>
        </p:txBody>
      </p:sp>
      <p:pic>
        <p:nvPicPr>
          <p:cNvPr descr="image/generated/daisyworld_init_white=0.8_max_age=40.png_step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чистый скрипт параметрических heatmap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scripts/daisyworld__param/</a:t>
            </a:r>
          </a:p>
          <a:p>
            <a:pPr lvl="0"/>
            <a:r>
              <a:rPr/>
              <a:t>Формат удобен для серийного воспроизведения эксперимента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Сгенерирована Markdown-документация параметрического исследования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docs/daisyworld__param/</a:t>
            </a:r>
          </a:p>
          <a:p>
            <a:pPr lvl="0"/>
            <a:r>
              <a:rPr/>
              <a:t>Документация содержит описание хода эксперимента и код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notebooks/daisyworld__param/</a:t>
            </a:r>
          </a:p>
          <a:p>
            <a:pPr lvl="0"/>
            <a:r>
              <a:rPr/>
              <a:t>Ноутбук позволяет удобно просматривать все комбинации параметров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Динамика с параметрами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daisyworld-count__param.jl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каждой комбинации параметров строится график динамики численности.</a:t>
            </a:r>
          </a:p>
        </p:txBody>
      </p:sp>
      <p:pic>
        <p:nvPicPr>
          <p:cNvPr descr="image/fig06-daisyworld-param-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57400"/>
            <a:ext cx="5105400" cy="68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динамика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Быстрое установление равновесия при стандартном возрасте агентов.</a:t>
            </a:r>
          </a:p>
        </p:txBody>
      </p:sp>
      <p:pic>
        <p:nvPicPr>
          <p:cNvPr descr="image/generated/daisy-count_init_white=0.2_max_age=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динамика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Увеличение </a:t>
            </a:r>
            <a:r>
              <a:rPr>
                <a:latin typeface="Courier"/>
              </a:rPr>
              <a:t>max_age</a:t>
            </a:r>
            <a:r>
              <a:rPr/>
              <a:t> делает колебания более плавными.</a:t>
            </a:r>
          </a:p>
        </p:txBody>
      </p:sp>
      <p:pic>
        <p:nvPicPr>
          <p:cNvPr descr="image/generated/daisy-count_init_white=0.2_max_age=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: динамика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Начальное преобладание белых влияет только на переходный режим.</a:t>
            </a:r>
          </a:p>
        </p:txBody>
      </p:sp>
      <p:pic>
        <p:nvPicPr>
          <p:cNvPr descr="image/generated/daisy-count_init_white=0.8_max_age=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: динамика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Наиболее инерционный переход к устойчивому состоянию.</a:t>
            </a:r>
          </a:p>
        </p:txBody>
      </p:sp>
      <p:pic>
        <p:nvPicPr>
          <p:cNvPr descr="image/generated/daisy-count_init_white=0.8_max_age=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daisyworld-count__param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чистый скрипт параметрической динамики численности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scripts/daisyworld-count__param/</a:t>
            </a:r>
          </a:p>
          <a:p>
            <a:pPr lvl="0"/>
            <a:r>
              <a:rPr/>
              <a:t>Поддерживается воспроизводимый запуск всех серий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daisyworld-count__param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Сгенерирована Markdown-документация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docs/daisyworld-count__param/</a:t>
            </a:r>
          </a:p>
          <a:p>
            <a:pPr lvl="0"/>
            <a:r>
              <a:rPr/>
              <a:t>Формат описывает полный параметрический сценарий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daisyworld-count__param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notebooks/daisyworld-count__param/</a:t>
            </a:r>
          </a:p>
          <a:p>
            <a:pPr lvl="0"/>
            <a:r>
              <a:rPr/>
              <a:t>Ноутбук удобен для сравнения кривых между сериями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Полная динамика с параметрами (ramp)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Запуск </a:t>
            </a:r>
            <a:r>
              <a:rPr>
                <a:latin typeface="Courier"/>
              </a:rPr>
              <a:t>daisyworld-luminosity__param.jl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всех комбинаций параметров строятся трёхпанельные графики в сценарии </a:t>
            </a:r>
            <a:r>
              <a:rPr>
                <a:latin typeface="Courier"/>
              </a:rPr>
              <a:t>ramp</a:t>
            </a:r>
            <a:r>
              <a:rPr/>
              <a:t>.</a:t>
            </a:r>
          </a:p>
        </p:txBody>
      </p:sp>
      <p:pic>
        <p:nvPicPr>
          <p:cNvPr descr="image/fig07-daisyworld-param-luminos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57400"/>
            <a:ext cx="5105400" cy="68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 (</a:t>
            </a:r>
            <a:r>
              <a:rPr>
                <a:latin typeface="Courier"/>
              </a:rPr>
              <a:t>ramp</a:t>
            </a:r>
            <a:r>
              <a:rPr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Система достаточно быстро адаптируется к изменениям светимости.</a:t>
            </a:r>
          </a:p>
        </p:txBody>
      </p:sp>
      <p:pic>
        <p:nvPicPr>
          <p:cNvPr descr="image/generated/daisy-luminosity_init_white=0.2_max_age=25_scenario=ra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0.2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 (</a:t>
            </a:r>
            <a:r>
              <a:rPr>
                <a:latin typeface="Courier"/>
              </a:rPr>
              <a:t>ramp</a:t>
            </a:r>
            <a:r>
              <a:rPr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Рост максимального возраста повышает инерционность отклика.</a:t>
            </a:r>
          </a:p>
        </p:txBody>
      </p:sp>
      <p:pic>
        <p:nvPicPr>
          <p:cNvPr descr="image/generated/daisy-luminosity_init_white=0.2_max_age=40_scenario=ra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25</a:t>
            </a:r>
            <a:r>
              <a:rPr/>
              <a:t> (</a:t>
            </a:r>
            <a:r>
              <a:rPr>
                <a:latin typeface="Courier"/>
              </a:rPr>
              <a:t>ramp</a:t>
            </a:r>
            <a:r>
              <a:rPr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Начальные условия быстро забываются, и система возвращается к типичной динамике.</a:t>
            </a:r>
          </a:p>
        </p:txBody>
      </p:sp>
      <p:pic>
        <p:nvPicPr>
          <p:cNvPr descr="image/generated/daisy-luminosity_init_white=0.8_max_age=25_scenario=ra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init_white = 0.8</a:t>
            </a:r>
            <a:r>
              <a:rPr/>
              <a:t>, </a:t>
            </a:r>
            <a:r>
              <a:rPr>
                <a:latin typeface="Courier"/>
              </a:rPr>
              <a:t>max_age = 40</a:t>
            </a:r>
            <a:r>
              <a:rPr/>
              <a:t> (</a:t>
            </a:r>
            <a:r>
              <a:rPr>
                <a:latin typeface="Courier"/>
              </a:rPr>
              <a:t>ramp</a:t>
            </a:r>
            <a:r>
              <a:rPr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Это наиболее инерционный вариант полной динамики.</a:t>
            </a:r>
          </a:p>
        </p:txBody>
      </p:sp>
      <p:pic>
        <p:nvPicPr>
          <p:cNvPr descr="image/generated/daisy-luminosity_init_white=0.8_max_age=40_scenario=ra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Literate.script</a:t>
            </a:r>
            <a:r>
              <a:rPr/>
              <a:t>: </a:t>
            </a:r>
            <a:r>
              <a:rPr>
                <a:latin typeface="Courier"/>
              </a:rPr>
              <a:t>daisyworld-luminosity__param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чистый скрипт параметрической полной динамики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scripts/daisyworld-luminosity__param/</a:t>
            </a:r>
          </a:p>
          <a:p>
            <a:pPr lvl="0"/>
            <a:r>
              <a:rPr/>
              <a:t>Сценарий готов к повторному прогону в пакетном режиме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Literate.markdown</a:t>
            </a:r>
            <a:r>
              <a:rPr/>
              <a:t>: </a:t>
            </a:r>
            <a:r>
              <a:rPr>
                <a:latin typeface="Courier"/>
              </a:rPr>
              <a:t>daisyworld-luminosity__param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Сгенерирована Markdown-документация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docs/daisyworld-luminosity__param/</a:t>
            </a:r>
          </a:p>
          <a:p>
            <a:pPr lvl="0"/>
            <a:r>
              <a:rPr/>
              <a:t>Документ описывает сценарий </a:t>
            </a:r>
            <a:r>
              <a:rPr>
                <a:latin typeface="Courier"/>
              </a:rPr>
              <a:t>ramp</a:t>
            </a:r>
            <a:r>
              <a:rPr/>
              <a:t> и параметры модели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Literate.notebook</a:t>
            </a:r>
            <a:r>
              <a:rPr/>
              <a:t>: </a:t>
            </a:r>
            <a:r>
              <a:rPr>
                <a:latin typeface="Courier"/>
              </a:rPr>
              <a:t>daisyworld-luminosity__param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Сгенерирован </a:t>
            </a:r>
            <a:r>
              <a:rPr>
                <a:latin typeface="Courier"/>
              </a:rPr>
              <a:t>Jupyter notebook</a:t>
            </a:r>
          </a:p>
          <a:p>
            <a:pPr lvl="0"/>
            <a:r>
              <a:rPr/>
              <a:t>Результат помещён в </a:t>
            </a:r>
            <a:r>
              <a:rPr>
                <a:latin typeface="Courier"/>
              </a:rPr>
              <a:t>notebooks/daisyworld-luminosity__param/</a:t>
            </a:r>
          </a:p>
          <a:p>
            <a:pPr lvl="0"/>
            <a:r>
              <a:rPr/>
              <a:t>Формат удобен для интерактивного исследования полной динамики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Генерация производных материалов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расчётов был запущен скрипт </a:t>
            </a:r>
            <a:r>
              <a:rPr>
                <a:latin typeface="Courier"/>
              </a:rPr>
              <a:t>tangle.jl</a:t>
            </a:r>
            <a:r>
              <a:rPr/>
              <a:t>, который создал производные форматы для всех литературных сценариев.</a:t>
            </a:r>
          </a:p>
        </p:txBody>
      </p:sp>
      <p:pic>
        <p:nvPicPr>
          <p:cNvPr descr="image/fig08-tangle-gene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56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Итоговая структура файлов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каталоге проекта сформированы:</a:t>
            </a:r>
          </a:p>
          <a:p>
            <a:pPr lvl="0"/>
            <a:r>
              <a:rPr/>
              <a:t>результаты моделирования в </a:t>
            </a:r>
            <a:r>
              <a:rPr>
                <a:latin typeface="Courier"/>
              </a:rPr>
              <a:t>plots</a:t>
            </a:r>
          </a:p>
          <a:p>
            <a:pPr lvl="0"/>
            <a:r>
              <a:rPr/>
              <a:t>чистые скрипты в </a:t>
            </a:r>
            <a:r>
              <a:rPr>
                <a:latin typeface="Courier"/>
              </a:rPr>
              <a:t>scripts/&lt;name&gt;/</a:t>
            </a:r>
          </a:p>
          <a:p>
            <a:pPr lvl="0"/>
            <a:r>
              <a:rPr/>
              <a:t>ноутбуки в </a:t>
            </a:r>
            <a:r>
              <a:rPr>
                <a:latin typeface="Courier"/>
              </a:rPr>
              <a:t>notebooks/&lt;name&gt;/</a:t>
            </a:r>
          </a:p>
          <a:p>
            <a:pPr lvl="0"/>
            <a:r>
              <a:rPr/>
              <a:t>Markdown-документация в </a:t>
            </a:r>
            <a:r>
              <a:rPr>
                <a:latin typeface="Courier"/>
              </a:rPr>
              <a:t>docs/&lt;name&gt;/</a:t>
            </a:r>
          </a:p>
        </p:txBody>
      </p:sp>
      <p:pic>
        <p:nvPicPr>
          <p:cNvPr descr="image/fig09-generated-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56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Реализована агентная модель Daisyworld на Julia с использованием </a:t>
            </a:r>
            <a:r>
              <a:rPr>
                <a:latin typeface="Courier"/>
              </a:rPr>
              <a:t>Agents.jl</a:t>
            </a:r>
          </a:p>
          <a:p>
            <a:pPr lvl="0"/>
            <a:r>
              <a:rPr/>
              <a:t>Получены статические визуализации, анимация и графики динамики</a:t>
            </a:r>
          </a:p>
          <a:p>
            <a:pPr lvl="0"/>
            <a:r>
              <a:rPr/>
              <a:t>Параметр </a:t>
            </a:r>
            <a:r>
              <a:rPr>
                <a:latin typeface="Courier"/>
              </a:rPr>
              <a:t>init_white</a:t>
            </a:r>
            <a:r>
              <a:rPr/>
              <a:t> влияет прежде всего на переходную фазу</a:t>
            </a:r>
          </a:p>
          <a:p>
            <a:pPr lvl="0"/>
            <a:r>
              <a:rPr/>
              <a:t>Параметр </a:t>
            </a:r>
            <a:r>
              <a:rPr>
                <a:latin typeface="Courier"/>
              </a:rPr>
              <a:t>max_age</a:t>
            </a:r>
            <a:r>
              <a:rPr/>
              <a:t> увеличивает инерционность и плотность заполнения</a:t>
            </a:r>
          </a:p>
          <a:p>
            <a:pPr lvl="0"/>
            <a:r>
              <a:rPr/>
              <a:t>Сценарий </a:t>
            </a:r>
            <a:r>
              <a:rPr>
                <a:latin typeface="Courier"/>
              </a:rPr>
              <a:t>ramp</a:t>
            </a:r>
            <a:r>
              <a:rPr/>
              <a:t> показывает способность модели к саморегуляции</a:t>
            </a:r>
          </a:p>
          <a:p>
            <a:pPr lvl="0"/>
            <a:r>
              <a:rPr/>
              <a:t>Проект оформлен в воспроизводимом виде с поддержкой </a:t>
            </a:r>
            <a:r>
              <a:rPr>
                <a:latin typeface="Courier"/>
              </a:rPr>
              <a:t>Literate.jl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2026-03-20T21:20:05Z</dcterms:created>
  <dcterms:modified xsi:type="dcterms:W3CDTF">2026-03-20T21:20:05Z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2026-03-20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№3. Агентное моделирование: модель Daisyworld</vt:lpwstr>
  </property>
  <property fmtid="{D5CDD505-2E9C-101B-9397-08002B2CF9AE}" pid="17" name="toc-title">
    <vt:lpwstr>Содержание</vt:lpwstr>
  </property>
</Properties>
</file>