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6.png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8.png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2.png" /><Relationship Id="rId2" Type="http://schemas.openxmlformats.org/officeDocument/2006/relationships/image" Target="../media/image11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4.png" /><Relationship Id="rId2" Type="http://schemas.openxmlformats.org/officeDocument/2006/relationships/image" Target="../media/image13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6.png" /><Relationship Id="rId2" Type="http://schemas.openxmlformats.org/officeDocument/2006/relationships/image" Target="../media/image15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8.png" /><Relationship Id="rId2" Type="http://schemas.openxmlformats.org/officeDocument/2006/relationships/image" Target="../media/image17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0.png" /><Relationship Id="rId2" Type="http://schemas.openxmlformats.org/officeDocument/2006/relationships/image" Target="../media/image19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2.png" /><Relationship Id="rId2" Type="http://schemas.openxmlformats.org/officeDocument/2006/relationships/image" Target="../media/image21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№7. Дискретно-событийное моделирование: M/M/c и модель Росса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 и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студенческий билет: 1132239110</a:t>
            </a:r>
          </a:p>
          <a:p>
            <a:pPr lvl="0"/>
            <a:r>
              <a:rPr/>
              <a:t>РУДН имени Патриса Лумумбы</a:t>
            </a:r>
          </a:p>
          <a:p>
            <a:pPr lvl="0"/>
            <a:r>
              <a:rPr/>
              <a:t>тема: </a:t>
            </a:r>
            <a:r>
              <a:rPr>
                <a:latin typeface="Courier"/>
              </a:rPr>
              <a:t>M/M/c</a:t>
            </a:r>
            <a:r>
              <a:rPr/>
              <a:t> и модель Росса</a:t>
            </a:r>
          </a:p>
          <a:p>
            <a:pPr lvl="0"/>
            <a:r>
              <a:rPr/>
              <a:t>средства: Julia, DrWatson, CSV, DataFrames, CairoMakie, Literate.jl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постановка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Реализовать дискретно-событийные модели </a:t>
            </a:r>
            <a:r>
              <a:rPr>
                <a:latin typeface="Courier"/>
              </a:rPr>
              <a:t>M/M/c</a:t>
            </a:r>
            <a:r>
              <a:rPr/>
              <a:t> и Росса</a:t>
            </a:r>
          </a:p>
          <a:p>
            <a:pPr lvl="0"/>
            <a:r>
              <a:rPr/>
              <a:t>Сопоставить имитацию </a:t>
            </a:r>
            <a:r>
              <a:rPr>
                <a:latin typeface="Courier"/>
              </a:rPr>
              <a:t>M/M/c</a:t>
            </a:r>
            <a:r>
              <a:rPr/>
              <a:t> с аналитическими формулами</a:t>
            </a:r>
          </a:p>
          <a:p>
            <a:pPr lvl="0"/>
            <a:r>
              <a:rPr/>
              <a:t>Исследовать время до отказа системы в модели Росса</a:t>
            </a:r>
          </a:p>
          <a:p>
            <a:pPr lvl="0"/>
            <a:r>
              <a:rPr/>
              <a:t>Провести параметрические эксперименты</a:t>
            </a:r>
          </a:p>
          <a:p>
            <a:pPr lvl="0"/>
            <a:r>
              <a:rPr/>
              <a:t>Подготовить воспроизводимый набор скриптов, таблиц и графиков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требовалось сделать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Julia-проект в структуре </a:t>
            </a:r>
            <a:r>
              <a:rPr>
                <a:latin typeface="Courier"/>
              </a:rPr>
              <a:t>DrWatson</a:t>
            </a:r>
          </a:p>
          <a:p>
            <a:pPr lvl="0" indent="-342900" marL="342900">
              <a:buAutoNum type="arabicPeriod"/>
            </a:pPr>
            <a:r>
              <a:rPr/>
              <a:t>Реализовать общий модуль </a:t>
            </a:r>
            <a:r>
              <a:rPr>
                <a:latin typeface="Courier"/>
              </a:rPr>
              <a:t>src/QueueingModels.jl</a:t>
            </a:r>
          </a:p>
          <a:p>
            <a:pPr lvl="0" indent="-342900" marL="342900">
              <a:buAutoNum type="arabicPeriod"/>
            </a:pPr>
            <a:r>
              <a:rPr/>
              <a:t>Выполнить базовые сценарии и параметрические сканы</a:t>
            </a:r>
          </a:p>
          <a:p>
            <a:pPr lvl="0" indent="-342900" marL="342900">
              <a:buAutoNum type="arabicPeriod"/>
            </a:pPr>
            <a:r>
              <a:rPr/>
              <a:t>Построить графики и сохранить CSV-таблицы</a:t>
            </a:r>
          </a:p>
          <a:p>
            <a:pPr lvl="0" indent="-342900" marL="342900">
              <a:buAutoNum type="arabicPeriod"/>
            </a:pPr>
            <a:r>
              <a:rPr/>
              <a:t>Сгенерировать </a:t>
            </a:r>
            <a:r>
              <a:rPr>
                <a:latin typeface="Courier"/>
              </a:rPr>
              <a:t>clean</a:t>
            </a:r>
            <a:r>
              <a:rPr/>
              <a:t>, </a:t>
            </a:r>
            <a:r>
              <a:rPr>
                <a:latin typeface="Courier"/>
              </a:rPr>
              <a:t>markdown</a:t>
            </a:r>
            <a:r>
              <a:rPr/>
              <a:t> и </a:t>
            </a:r>
            <a:r>
              <a:rPr>
                <a:latin typeface="Courier"/>
              </a:rPr>
              <a:t>ipynb</a:t>
            </a:r>
            <a:r>
              <a:rPr/>
              <a:t>-материалы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</a:t>
            </a:r>
            <a:r>
              <a:rPr>
                <a:latin typeface="Courier"/>
              </a:rPr>
              <a:t>M/M/c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Основные параметры:</a:t>
                </a:r>
              </a:p>
              <a:p>
                <a:pPr lvl="0"/>
                <a:r>
                  <a:rPr>
                    <a:latin typeface="Courier"/>
                  </a:rPr>
                  <a:t>lambda</a:t>
                </a:r>
                <a:r>
                  <a:rPr/>
                  <a:t> — интенсивность входного потока</a:t>
                </a:r>
              </a:p>
              <a:p>
                <a:pPr lvl="0"/>
                <a:r>
                  <a:rPr>
                    <a:latin typeface="Courier"/>
                  </a:rPr>
                  <a:t>mu</a:t>
                </a:r>
                <a:r>
                  <a:rPr/>
                  <a:t> — интенсивность обслуживания</a:t>
                </a:r>
              </a:p>
              <a:p>
                <a:pPr lvl="0"/>
                <a:r>
                  <a:rPr>
                    <a:latin typeface="Courier"/>
                  </a:rPr>
                  <a:t>c</a:t>
                </a:r>
                <a:r>
                  <a:rPr/>
                  <a:t> — число каналов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λ</m:t>
                          </m:r>
                        </m:num>
                        <m:den>
                          <m:r>
                            <m:t>c</m:t>
                          </m:r>
                          <m:r>
                            <m:t>μ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Характеристики:</a:t>
            </a:r>
          </a:p>
          <a:p>
            <a:pPr lvl="0"/>
            <a:r>
              <a:rPr/>
              <a:t>вероятность ожидания </a:t>
            </a:r>
            <a:r>
              <a:rPr>
                <a:latin typeface="Courier"/>
              </a:rPr>
              <a:t>P_{wait}</a:t>
            </a:r>
          </a:p>
          <a:p>
            <a:pPr lvl="0"/>
            <a:r>
              <a:rPr/>
              <a:t>среднее ожидание </a:t>
            </a:r>
            <a:r>
              <a:rPr>
                <a:latin typeface="Courier"/>
              </a:rPr>
              <a:t>W_q</a:t>
            </a:r>
          </a:p>
          <a:p>
            <a:pPr lvl="0"/>
            <a:r>
              <a:rPr/>
              <a:t>среднее число в очереди </a:t>
            </a:r>
            <a:r>
              <a:rPr>
                <a:latin typeface="Courier"/>
              </a:rPr>
              <a:t>L_q</a:t>
            </a:r>
          </a:p>
          <a:p>
            <a:pPr lvl="0"/>
            <a:r>
              <a:rPr/>
              <a:t>среднее число в системе </a:t>
            </a:r>
            <a:r>
              <a:rPr>
                <a:latin typeface="Courier"/>
              </a:rPr>
              <a:t>L</a:t>
            </a:r>
          </a:p>
          <a:p>
            <a:pPr lvl="0" indent="0" marL="0">
              <a:buNone/>
            </a:pPr>
            <a:r>
              <a:rPr/>
              <a:t>При </a:t>
            </a:r>
            <a:r>
              <a:rPr>
                <a:latin typeface="Courier"/>
              </a:rPr>
              <a:t>rho &gt;= 1</a:t>
            </a:r>
            <a:r>
              <a:rPr/>
              <a:t> система неустойчива.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Росса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 модели:</a:t>
            </a:r>
          </a:p>
          <a:p>
            <a:pPr lvl="0"/>
            <a:r>
              <a:rPr>
                <a:latin typeface="Courier"/>
              </a:rPr>
              <a:t>N</a:t>
            </a:r>
            <a:r>
              <a:rPr/>
              <a:t> рабочих машин</a:t>
            </a:r>
          </a:p>
          <a:p>
            <a:pPr lvl="0"/>
            <a:r>
              <a:rPr>
                <a:latin typeface="Courier"/>
              </a:rPr>
              <a:t>S</a:t>
            </a:r>
            <a:r>
              <a:rPr/>
              <a:t> резервных машин</a:t>
            </a:r>
          </a:p>
          <a:p>
            <a:pPr lvl="0"/>
            <a:r>
              <a:rPr>
                <a:latin typeface="Courier"/>
              </a:rPr>
              <a:t>repairers</a:t>
            </a:r>
            <a:r>
              <a:rPr/>
              <a:t> ремонтников</a:t>
            </a:r>
          </a:p>
          <a:p>
            <a:pPr lvl="0"/>
            <a:r>
              <a:rPr>
                <a:latin typeface="Courier"/>
              </a:rPr>
              <a:t>tau_f</a:t>
            </a:r>
            <a:r>
              <a:rPr/>
              <a:t> среднее время до отказа</a:t>
            </a:r>
          </a:p>
          <a:p>
            <a:pPr lvl="0"/>
            <a:r>
              <a:rPr>
                <a:latin typeface="Courier"/>
              </a:rPr>
              <a:t>tau_r</a:t>
            </a:r>
            <a:r>
              <a:rPr/>
              <a:t> среднее время ремонта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События:</a:t>
            </a:r>
          </a:p>
          <a:p>
            <a:pPr lvl="0"/>
            <a:r>
              <a:rPr/>
              <a:t>отказ машины</a:t>
            </a:r>
          </a:p>
          <a:p>
            <a:pPr lvl="0"/>
            <a:r>
              <a:rPr/>
              <a:t>постановка в ремонт</a:t>
            </a:r>
          </a:p>
          <a:p>
            <a:pPr lvl="0"/>
            <a:r>
              <a:rPr/>
              <a:t>завершение ремонта</a:t>
            </a:r>
          </a:p>
          <a:p>
            <a:pPr lvl="0"/>
            <a:r>
              <a:rPr/>
              <a:t>системный отказ при пустом резерве</a:t>
            </a:r>
          </a:p>
          <a:p>
            <a:pPr lvl="0" indent="0" marL="0">
              <a:buNone/>
            </a:pPr>
            <a:r>
              <a:rPr/>
              <a:t>Аналитика строится по линейной системе для </a:t>
            </a:r>
            <a:r>
              <a:rPr>
                <a:latin typeface="Courier"/>
              </a:rPr>
              <a:t>T_k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проекта и запуск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файлы:</a:t>
            </a:r>
          </a:p>
          <a:p>
            <a:pPr lvl="0"/>
            <a:r>
              <a:rPr>
                <a:latin typeface="Courier"/>
              </a:rPr>
              <a:t>src/QueueingModels.jl</a:t>
            </a:r>
          </a:p>
          <a:p>
            <a:pPr lvl="0"/>
            <a:r>
              <a:rPr>
                <a:latin typeface="Courier"/>
              </a:rPr>
              <a:t>scripts/mmc.jl</a:t>
            </a:r>
          </a:p>
          <a:p>
            <a:pPr lvl="0"/>
            <a:r>
              <a:rPr>
                <a:latin typeface="Courier"/>
              </a:rPr>
              <a:t>scripts/mmc_parameters.jl</a:t>
            </a:r>
          </a:p>
          <a:p>
            <a:pPr lvl="0"/>
            <a:r>
              <a:rPr>
                <a:latin typeface="Courier"/>
              </a:rPr>
              <a:t>scripts/ross.jl</a:t>
            </a:r>
          </a:p>
          <a:p>
            <a:pPr lvl="0"/>
            <a:r>
              <a:rPr>
                <a:latin typeface="Courier"/>
              </a:rPr>
              <a:t>scripts/ross_parameters.jl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команды: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~/labs/lab07/project</a:t>
            </a:r>
            <a:br/>
            <a:r>
              <a:rPr>
                <a:latin typeface="Courier"/>
              </a:rPr>
              <a:t>~/.juliaup/bin/julia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'using Pkg; Pkg.instantiate()'</a:t>
            </a:r>
            <a:br/>
            <a:r>
              <a:rPr>
                <a:latin typeface="Courier"/>
              </a:rPr>
              <a:t>~/.juliaup/bin/julia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'include("scripts/mmc.jl")'</a:t>
            </a:r>
            <a:br/>
            <a:r>
              <a:rPr>
                <a:latin typeface="Courier"/>
              </a:rPr>
              <a:t>~/.juliaup/bin/julia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'include("scripts/ross.jl")'</a:t>
            </a:r>
            <a:br/>
            <a:r>
              <a:rPr>
                <a:latin typeface="Courier"/>
              </a:rPr>
              <a:t>~/.juliaup/bin/julia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scripts/tangle.jl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проекта и базовый запуск </a:t>
            </a:r>
            <a:r>
              <a:rPr>
                <a:latin typeface="Courier"/>
              </a:rPr>
              <a:t>M/M/c</a:t>
            </a:r>
          </a:p>
        </p:txBody>
      </p:sp>
      <p:pic>
        <p:nvPicPr>
          <p:cNvPr descr="image/screenshots/fig01-instanti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55900"/>
            <a:ext cx="4038600" cy="26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screenshots/fig02-mmc-base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705100"/>
            <a:ext cx="4038600" cy="36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Сначала было активировано окружение проекта, затем запущен базовый сценарий </a:t>
            </a:r>
            <a:r>
              <a:rPr>
                <a:latin typeface="Courier"/>
              </a:rPr>
              <a:t>M/M/c</a:t>
            </a:r>
            <a:r>
              <a:rPr/>
              <a:t>. По результату получены </a:t>
            </a:r>
            <a:r>
              <a:rPr>
                <a:latin typeface="Courier"/>
              </a:rPr>
              <a:t>customers = 5000</a:t>
            </a:r>
            <a:r>
              <a:rPr/>
              <a:t>, </a:t>
            </a:r>
            <a:r>
              <a:rPr>
                <a:latin typeface="Courier"/>
              </a:rPr>
              <a:t>mean wait = 8.3449</a:t>
            </a:r>
            <a:r>
              <a:rPr/>
              <a:t>, </a:t>
            </a:r>
            <a:r>
              <a:rPr>
                <a:latin typeface="Courier"/>
              </a:rPr>
              <a:t>utilization = 0.8989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Параметрический запуск </a:t>
            </a:r>
            <a:r>
              <a:rPr>
                <a:latin typeface="Courier"/>
              </a:rPr>
              <a:t>M/M/c</a:t>
            </a:r>
          </a:p>
        </p:txBody>
      </p:sp>
      <p:pic>
        <p:nvPicPr>
          <p:cNvPr descr="image/screenshots/fig03-mmc-sc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94000"/>
            <a:ext cx="4038600" cy="17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исследовано </a:t>
            </a:r>
            <a:r>
              <a:rPr>
                <a:latin typeface="Courier"/>
              </a:rPr>
              <a:t>18</a:t>
            </a:r>
            <a:r>
              <a:rPr/>
              <a:t> сценариев</a:t>
            </a:r>
          </a:p>
          <a:p>
            <a:pPr lvl="0"/>
            <a:r>
              <a:rPr/>
              <a:t>сетка: </a:t>
            </a:r>
            <a:r>
              <a:rPr>
                <a:latin typeface="Courier"/>
              </a:rPr>
              <a:t>lambda in [0.3, 0.6, 0.9]</a:t>
            </a:r>
          </a:p>
          <a:p>
            <a:pPr lvl="0"/>
            <a:r>
              <a:rPr/>
              <a:t>число каналов: </a:t>
            </a:r>
            <a:r>
              <a:rPr>
                <a:latin typeface="Courier"/>
              </a:rPr>
              <a:t>c in 1:6</a:t>
            </a:r>
          </a:p>
          <a:p>
            <a:pPr lvl="0"/>
            <a:r>
              <a:rPr/>
              <a:t>результат сохранён в </a:t>
            </a:r>
            <a:r>
              <a:rPr>
                <a:latin typeface="Courier"/>
              </a:rPr>
              <a:t>mmc_parameter_scan.csv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в </a:t>
            </a:r>
            <a:r>
              <a:rPr>
                <a:latin typeface="Courier"/>
              </a:rPr>
              <a:t>QueueingModels.jl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</a:t>
            </a:r>
            <a:r>
              <a:rPr>
                <a:latin typeface="Courier"/>
              </a:rPr>
              <a:t>M/M/c</a:t>
            </a:r>
            <a:r>
              <a:rPr/>
              <a:t>:</a:t>
            </a:r>
          </a:p>
          <a:p>
            <a:pPr lvl="0"/>
            <a:r>
              <a:rPr/>
              <a:t>аналитика Эрланга;</a:t>
            </a:r>
          </a:p>
          <a:p>
            <a:pPr lvl="0"/>
            <a:r>
              <a:rPr/>
              <a:t>событийный цикл прихода и обслуживания;</a:t>
            </a:r>
          </a:p>
          <a:p>
            <a:pPr lvl="0"/>
            <a:r>
              <a:rPr/>
              <a:t>журнал заявок;</a:t>
            </a:r>
          </a:p>
          <a:p>
            <a:pPr lvl="0"/>
            <a:r>
              <a:rPr/>
              <a:t>журнал событий;</a:t>
            </a:r>
          </a:p>
          <a:p>
            <a:pPr lvl="0"/>
            <a:r>
              <a:rPr/>
              <a:t>time-weighted метрики.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Для модели Росса:</a:t>
            </a:r>
          </a:p>
          <a:p>
            <a:pPr lvl="0"/>
            <a:r>
              <a:rPr/>
              <a:t>событийный цикл отказов и ремонтов;</a:t>
            </a:r>
          </a:p>
          <a:p>
            <a:pPr lvl="0"/>
            <a:r>
              <a:rPr/>
              <a:t>очередь на ремонт;</a:t>
            </a:r>
          </a:p>
          <a:p>
            <a:pPr lvl="0"/>
            <a:r>
              <a:rPr/>
              <a:t>несколько ремонтников;</a:t>
            </a:r>
          </a:p>
          <a:p>
            <a:pPr lvl="0"/>
            <a:r>
              <a:rPr/>
              <a:t>аналитическая оценка времени до отказа;</a:t>
            </a:r>
          </a:p>
          <a:p>
            <a:pPr lvl="0"/>
            <a:r>
              <a:rPr/>
              <a:t>пакет независимых прогонов.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 </a:t>
            </a:r>
            <a:r>
              <a:rPr>
                <a:latin typeface="Courier"/>
              </a:rPr>
              <a:t>M/M/c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сценарий </a:t>
            </a:r>
            <a:r>
              <a:rPr>
                <a:latin typeface="Courier"/>
              </a:rPr>
              <a:t>M/M/c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Параметры:</a:t>
            </a:r>
          </a:p>
          <a:p>
            <a:pPr lvl="0"/>
            <a:r>
              <a:rPr>
                <a:latin typeface="Courier"/>
              </a:rPr>
              <a:t>lambda = 0.9</a:t>
            </a:r>
          </a:p>
          <a:p>
            <a:pPr lvl="0"/>
            <a:r>
              <a:rPr>
                <a:latin typeface="Courier"/>
              </a:rPr>
              <a:t>mu = 0.5</a:t>
            </a:r>
          </a:p>
          <a:p>
            <a:pPr lvl="0"/>
            <a:r>
              <a:rPr>
                <a:latin typeface="Courier"/>
              </a:rPr>
              <a:t>c = 2</a:t>
            </a:r>
          </a:p>
          <a:p>
            <a:pPr lvl="0"/>
            <a:r>
              <a:rPr>
                <a:latin typeface="Courier"/>
              </a:rPr>
              <a:t>num_customers = 5000</a:t>
            </a:r>
          </a:p>
          <a:p>
            <a:pPr lvl="0"/>
            <a:r>
              <a:rPr>
                <a:latin typeface="Courier"/>
              </a:rPr>
              <a:t>seed = 123</a:t>
            </a:r>
          </a:p>
          <a:p>
            <a:pPr lvl="0" indent="0" marL="0">
              <a:buNone/>
            </a:pPr>
            <a:r>
              <a:rPr/>
              <a:t>Результат:</a:t>
            </a:r>
          </a:p>
          <a:p>
            <a:pPr lvl="0"/>
            <a:r>
              <a:rPr>
                <a:latin typeface="Courier"/>
              </a:rPr>
              <a:t>sim_wq = 8.3449</a:t>
            </a:r>
          </a:p>
          <a:p>
            <a:pPr lvl="0"/>
            <a:r>
              <a:rPr>
                <a:latin typeface="Courier"/>
              </a:rPr>
              <a:t>analytic_wq = 8.5263</a:t>
            </a:r>
          </a:p>
          <a:p>
            <a:pPr lvl="0"/>
            <a:r>
              <a:rPr>
                <a:latin typeface="Courier"/>
              </a:rPr>
              <a:t>sim_pwait = 0.8556</a:t>
            </a:r>
          </a:p>
          <a:p>
            <a:pPr lvl="0"/>
            <a:r>
              <a:rPr>
                <a:latin typeface="Courier"/>
              </a:rPr>
              <a:t>sim_utilization = 0.8989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Динамика очереди и каналов</a:t>
            </a:r>
          </a:p>
        </p:txBody>
      </p:sp>
      <p:pic>
        <p:nvPicPr>
          <p:cNvPr descr="image/generated/mmc_queue_lengt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mmc_busy_server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Высокая загрузка </a:t>
            </a:r>
            <a:r>
              <a:rPr>
                <a:latin typeface="Courier"/>
              </a:rPr>
              <a:t>rho = 0.9</a:t>
            </a:r>
            <a:r>
              <a:rPr/>
              <a:t> поддерживает длинные очереди и почти постоянную занятость обоих каналов.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Распределение ожидания и сравнение с аналитикой</a:t>
            </a:r>
          </a:p>
        </p:txBody>
      </p:sp>
      <p:pic>
        <p:nvPicPr>
          <p:cNvPr descr="image/generated/mmc_wait_histogra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mmc_analytic_vs_simulatio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638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прогон хорошо согласуется с аналитикой. Наибольший интерес представляют </a:t>
            </a:r>
            <a:r>
              <a:rPr>
                <a:latin typeface="Courier"/>
              </a:rPr>
              <a:t>W_q</a:t>
            </a:r>
            <a:r>
              <a:rPr/>
              <a:t> и </a:t>
            </a:r>
            <a:r>
              <a:rPr>
                <a:latin typeface="Courier"/>
              </a:rPr>
              <a:t>L_q</a:t>
            </a:r>
            <a:r>
              <a:rPr/>
              <a:t>, потому что именно они чувствительны к режиму загрузки.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Параметрический анализ </a:t>
            </a:r>
            <a:r>
              <a:rPr>
                <a:latin typeface="Courier"/>
              </a:rPr>
              <a:t>M/M/c</a:t>
            </a:r>
          </a:p>
        </p:txBody>
      </p:sp>
      <p:pic>
        <p:nvPicPr>
          <p:cNvPr descr="image/generated/mmc_wait_by_chann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mmc_wait_by_lambda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Рост числа каналов быстро снижает </a:t>
            </a:r>
            <a:r>
              <a:rPr>
                <a:latin typeface="Courier"/>
              </a:rPr>
              <a:t>W_q</a:t>
            </a:r>
            <a:r>
              <a:rPr/>
              <a:t>, а рост </a:t>
            </a:r>
            <a:r>
              <a:rPr>
                <a:latin typeface="Courier"/>
              </a:rPr>
              <a:t>lambda</a:t>
            </a:r>
            <a:r>
              <a:rPr/>
              <a:t> переводит систему в область длинных очередей. Для </a:t>
            </a:r>
            <a:r>
              <a:rPr>
                <a:latin typeface="Courier"/>
              </a:rPr>
              <a:t>c = 1</a:t>
            </a:r>
            <a:r>
              <a:rPr/>
              <a:t> и больших </a:t>
            </a:r>
            <a:r>
              <a:rPr>
                <a:latin typeface="Courier"/>
              </a:rPr>
              <a:t>lambda</a:t>
            </a:r>
            <a:r>
              <a:rPr/>
              <a:t> проявляется неустойчивый режим.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 модели Росса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сценарий модели Росса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Параметры:</a:t>
            </a:r>
          </a:p>
          <a:p>
            <a:pPr lvl="0"/>
            <a:r>
              <a:rPr>
                <a:latin typeface="Courier"/>
              </a:rPr>
              <a:t>N = 10</a:t>
            </a:r>
          </a:p>
          <a:p>
            <a:pPr lvl="0"/>
            <a:r>
              <a:rPr>
                <a:latin typeface="Courier"/>
              </a:rPr>
              <a:t>S = 3</a:t>
            </a:r>
          </a:p>
          <a:p>
            <a:pPr lvl="0"/>
            <a:r>
              <a:rPr>
                <a:latin typeface="Courier"/>
              </a:rPr>
              <a:t>repairers = 1</a:t>
            </a:r>
          </a:p>
          <a:p>
            <a:pPr lvl="0"/>
            <a:r>
              <a:rPr>
                <a:latin typeface="Courier"/>
              </a:rPr>
              <a:t>runs = 300</a:t>
            </a:r>
          </a:p>
          <a:p>
            <a:pPr lvl="0"/>
            <a:r>
              <a:rPr>
                <a:latin typeface="Courier"/>
              </a:rPr>
              <a:t>tau_f = 100.0</a:t>
            </a:r>
          </a:p>
          <a:p>
            <a:pPr lvl="0"/>
            <a:r>
              <a:rPr>
                <a:latin typeface="Courier"/>
              </a:rPr>
              <a:t>tau_r = 1.0</a:t>
            </a:r>
          </a:p>
          <a:p>
            <a:pPr lvl="0" indent="0" marL="0">
              <a:buNone/>
            </a:pPr>
            <a:r>
              <a:rPr/>
              <a:t>Результат:</a:t>
            </a:r>
          </a:p>
          <a:p>
            <a:pPr lvl="0"/>
            <a:r>
              <a:rPr>
                <a:latin typeface="Courier"/>
              </a:rPr>
              <a:t>mean_crash_time = 11937.8165</a:t>
            </a:r>
          </a:p>
          <a:p>
            <a:pPr lvl="0"/>
            <a:r>
              <a:rPr>
                <a:latin typeface="Courier"/>
              </a:rPr>
              <a:t>analytic_crash_time = 12340.0</a:t>
            </a:r>
          </a:p>
          <a:p>
            <a:pPr lvl="0"/>
            <a:r>
              <a:rPr>
                <a:latin typeface="Courier"/>
              </a:rPr>
              <a:t>mean_repair_queue = 0.0120</a:t>
            </a:r>
          </a:p>
          <a:p>
            <a:pPr lvl="0"/>
            <a:r>
              <a:rPr>
                <a:latin typeface="Courier"/>
              </a:rPr>
              <a:t>repairer_utilization = 0.1010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сценариев модели Росса</a:t>
            </a:r>
          </a:p>
        </p:txBody>
      </p:sp>
      <p:pic>
        <p:nvPicPr>
          <p:cNvPr descr="image/screenshots/fig04-ross-bas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730500"/>
            <a:ext cx="4038600" cy="30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screenshots/fig05-ross-scan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768600"/>
            <a:ext cx="4038600" cy="24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Выполнены базовый сценарий и параметрический скан модели Росса. Во втором случае было рассчитано </a:t>
            </a:r>
            <a:r>
              <a:rPr>
                <a:latin typeface="Courier"/>
              </a:rPr>
              <a:t>12</a:t>
            </a:r>
            <a:r>
              <a:rPr/>
              <a:t> конфигураций системы.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Динамика исправных и резервных машин</a:t>
            </a:r>
          </a:p>
        </p:txBody>
      </p:sp>
      <p:pic>
        <p:nvPicPr>
          <p:cNvPr descr="image/generated/ross_good_machin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ross_spar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Ключевым индикатором устойчивости является запас резерва. Пока резерв не исчерпан, число исправных машин остаётся высоким.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Очередь на ремонт и статистика отказа</a:t>
            </a:r>
          </a:p>
        </p:txBody>
      </p:sp>
      <p:pic>
        <p:nvPicPr>
          <p:cNvPr descr="image/generated/ross_repair_queu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ross_crash_time_histogram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режим имеет почти нулевую очередь на ремонт, а имитационное среднее времени до отказа близко к аналитической оценке.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Параметрический анализ модели Росса</a:t>
            </a:r>
          </a:p>
        </p:txBody>
      </p:sp>
      <p:pic>
        <p:nvPicPr>
          <p:cNvPr descr="image/generated/ross_crash_time_by_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ross_crash_time_by_spar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Увеличение </a:t>
            </a:r>
            <a:r>
              <a:rPr>
                <a:latin typeface="Courier"/>
              </a:rPr>
              <a:t>N</a:t>
            </a:r>
            <a:r>
              <a:rPr/>
              <a:t> ускоряет отказ, а увеличение </a:t>
            </a:r>
            <a:r>
              <a:rPr>
                <a:latin typeface="Courier"/>
              </a:rPr>
              <a:t>S</a:t>
            </a:r>
            <a:r>
              <a:rPr/>
              <a:t> многократно повышает среднее время жизни системы.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Роль числа ремонтников</a:t>
            </a:r>
          </a:p>
        </p:txBody>
      </p:sp>
      <p:pic>
        <p:nvPicPr>
          <p:cNvPr descr="image/generated/ross_repairers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generated/ross_repairer_utilization_by_scenari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943100"/>
            <a:ext cx="4038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Второй ремонтник помогает, но обычно слабее, чем увеличение резерва. Во многих сценариях ремонтники остаются загруженными умеренно.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Воспроизводимость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Literate-артефакты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После </a:t>
            </a:r>
            <a:r>
              <a:rPr>
                <a:latin typeface="Courier"/>
              </a:rPr>
              <a:t>scripts/tangle.jl</a:t>
            </a:r>
            <a:r>
              <a:rPr/>
              <a:t> автоматически получены:</a:t>
            </a:r>
          </a:p>
          <a:p>
            <a:pPr lvl="0"/>
            <a:r>
              <a:rPr>
                <a:latin typeface="Courier"/>
              </a:rPr>
              <a:t>mmc_clean.jl</a:t>
            </a:r>
            <a:r>
              <a:rPr/>
              <a:t>, </a:t>
            </a:r>
            <a:r>
              <a:rPr>
                <a:latin typeface="Courier"/>
              </a:rPr>
              <a:t>mmc.md</a:t>
            </a:r>
            <a:r>
              <a:rPr/>
              <a:t>, </a:t>
            </a:r>
            <a:r>
              <a:rPr>
                <a:latin typeface="Courier"/>
              </a:rPr>
              <a:t>mmc.ipynb</a:t>
            </a:r>
          </a:p>
          <a:p>
            <a:pPr lvl="0"/>
            <a:r>
              <a:rPr>
                <a:latin typeface="Courier"/>
              </a:rPr>
              <a:t>mmc_parameters_clean.jl</a:t>
            </a:r>
            <a:r>
              <a:rPr/>
              <a:t>, </a:t>
            </a:r>
            <a:r>
              <a:rPr>
                <a:latin typeface="Courier"/>
              </a:rPr>
              <a:t>mmc_parameters.md</a:t>
            </a:r>
            <a:r>
              <a:rPr/>
              <a:t>, </a:t>
            </a:r>
            <a:r>
              <a:rPr>
                <a:latin typeface="Courier"/>
              </a:rPr>
              <a:t>mmc_parameters.ipynb</a:t>
            </a:r>
          </a:p>
          <a:p>
            <a:pPr lvl="0"/>
            <a:r>
              <a:rPr>
                <a:latin typeface="Courier"/>
              </a:rPr>
              <a:t>ross_clean.jl</a:t>
            </a:r>
            <a:r>
              <a:rPr/>
              <a:t>, </a:t>
            </a:r>
            <a:r>
              <a:rPr>
                <a:latin typeface="Courier"/>
              </a:rPr>
              <a:t>ross.md</a:t>
            </a:r>
            <a:r>
              <a:rPr/>
              <a:t>, </a:t>
            </a:r>
            <a:r>
              <a:rPr>
                <a:latin typeface="Courier"/>
              </a:rPr>
              <a:t>ross.ipynb</a:t>
            </a:r>
          </a:p>
          <a:p>
            <a:pPr lvl="0"/>
            <a:r>
              <a:rPr>
                <a:latin typeface="Courier"/>
              </a:rPr>
              <a:t>ross_parameters_clean.jl</a:t>
            </a:r>
            <a:r>
              <a:rPr/>
              <a:t>, </a:t>
            </a:r>
            <a:r>
              <a:rPr>
                <a:latin typeface="Courier"/>
              </a:rPr>
              <a:t>ross_parameters.md</a:t>
            </a:r>
            <a:r>
              <a:rPr/>
              <a:t>, </a:t>
            </a:r>
            <a:r>
              <a:rPr>
                <a:latin typeface="Courier"/>
              </a:rPr>
              <a:t>ross_parameters.ipynb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Генерация и проверка артефактов</a:t>
            </a:r>
          </a:p>
        </p:txBody>
      </p:sp>
      <p:pic>
        <p:nvPicPr>
          <p:cNvPr descr="image/screenshots/fig06-tang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63700"/>
            <a:ext cx="40386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/screenshots/fig07-check-fil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35100"/>
            <a:ext cx="4038600" cy="290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Сценарий </a:t>
            </a:r>
            <a:r>
              <a:rPr>
                <a:latin typeface="Courier"/>
              </a:rPr>
              <a:t>tangle.jl</a:t>
            </a:r>
            <a:r>
              <a:rPr/>
              <a:t> сформировал </a:t>
            </a:r>
            <a:r>
              <a:rPr>
                <a:latin typeface="Courier"/>
              </a:rPr>
              <a:t>clean</a:t>
            </a:r>
            <a:r>
              <a:rPr/>
              <a:t>-скрипты, </a:t>
            </a:r>
            <a:r>
              <a:rPr>
                <a:latin typeface="Courier"/>
              </a:rPr>
              <a:t>md</a:t>
            </a:r>
            <a:r>
              <a:rPr/>
              <a:t>-файлы и </a:t>
            </a:r>
            <a:r>
              <a:rPr>
                <a:latin typeface="Courier"/>
              </a:rPr>
              <a:t>ipynb</a:t>
            </a:r>
            <a:r>
              <a:rPr/>
              <a:t>-ноутбуки. После этого была проверена структура каталогов </a:t>
            </a:r>
            <a:r>
              <a:rPr>
                <a:latin typeface="Courier"/>
              </a:rPr>
              <a:t>data</a:t>
            </a:r>
            <a:r>
              <a:rPr/>
              <a:t>, </a:t>
            </a:r>
            <a:r>
              <a:rPr>
                <a:latin typeface="Courier"/>
              </a:rPr>
              <a:t>plots</a:t>
            </a:r>
            <a:r>
              <a:rPr/>
              <a:t>, </a:t>
            </a:r>
            <a:r>
              <a:rPr>
                <a:latin typeface="Courier"/>
              </a:rPr>
              <a:t>docs</a:t>
            </a:r>
            <a:r>
              <a:rPr/>
              <a:t> и </a:t>
            </a:r>
            <a:r>
              <a:rPr>
                <a:latin typeface="Courier"/>
              </a:rPr>
              <a:t>notebooks</a:t>
            </a:r>
            <a:r>
              <a:rPr/>
              <a:t>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Реализована корректная имитация </a:t>
            </a:r>
            <a:r>
              <a:rPr>
                <a:latin typeface="Courier"/>
              </a:rPr>
              <a:t>M/M/c</a:t>
            </a:r>
            <a:r>
              <a:rPr/>
              <a:t> с сопоставлением с аналитикой</a:t>
            </a:r>
          </a:p>
          <a:p>
            <a:pPr lvl="0"/>
            <a:r>
              <a:rPr/>
              <a:t>Показаны устойчивые и неустойчивые режимы по </a:t>
            </a:r>
            <a:r>
              <a:rPr>
                <a:latin typeface="Courier"/>
              </a:rPr>
              <a:t>lambda</a:t>
            </a:r>
            <a:r>
              <a:rPr/>
              <a:t> и </a:t>
            </a:r>
            <a:r>
              <a:rPr>
                <a:latin typeface="Courier"/>
              </a:rPr>
              <a:t>c</a:t>
            </a:r>
          </a:p>
          <a:p>
            <a:pPr lvl="0"/>
            <a:r>
              <a:rPr/>
              <a:t>Реализована модель Росса с несколькими ремонтниками</a:t>
            </a:r>
          </a:p>
          <a:p>
            <a:pPr lvl="0"/>
            <a:r>
              <a:rPr/>
              <a:t>Сравнены имитационные и аналитические оценки времени до отказа</a:t>
            </a:r>
          </a:p>
          <a:p>
            <a:pPr lvl="0"/>
            <a:r>
              <a:rPr/>
              <a:t>Подготовлены скрипты, таблицы, графики, отчёт и презентация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2026-05-15T18:30:11Z</dcterms:created>
  <dcterms:modified xsi:type="dcterms:W3CDTF">2026-05-15T18:30:11Z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2026-05-15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№7. Дискретно-событийное моделирование: M/M/c и модель Росса</vt:lpwstr>
  </property>
  <property fmtid="{D5CDD505-2E9C-101B-9397-08002B2CF9AE}" pid="17" name="toc-title">
    <vt:lpwstr>Содержание</vt:lpwstr>
  </property>
</Properties>
</file>