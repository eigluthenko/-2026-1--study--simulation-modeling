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№1. Подготовка стенда. Модель экспоненциального роста</a:t>
            </a:r>
            <a:br/>
            <a:br/>
            <a:r>
              <a:rPr/>
              <a:t>Глущенко Евгений Игоревич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2026-05-29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 и работа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Глущенко Евгений Игоревич</a:t>
            </a:r>
          </a:p>
          <a:p>
            <a:pPr lvl="0"/>
            <a:r>
              <a:rPr/>
              <a:t>студент группы НФИбд-01-23</a:t>
            </a:r>
          </a:p>
          <a:p>
            <a:pPr lvl="0"/>
            <a:r>
              <a:rPr/>
              <a:t>студенческий билет: 1132239110</a:t>
            </a:r>
          </a:p>
          <a:p>
            <a:pPr lvl="0"/>
            <a:r>
              <a:rPr/>
              <a:t>РУДН имени Патриса Лумумбы</a:t>
            </a:r>
          </a:p>
          <a:p>
            <a:pPr lvl="0"/>
            <a:r>
              <a:rPr/>
              <a:t>тема: подготовка стенда и модель экспоненциального роста</a:t>
            </a:r>
          </a:p>
          <a:p>
            <a:pPr lvl="0"/>
            <a:r>
              <a:rPr/>
              <a:t>средства: Julia, DrWatson, CairoMakie, Literate.jl, git</a:t>
            </a:r>
          </a:p>
        </p:txBody>
      </p:sp>
      <p:pic>
        <p:nvPicPr>
          <p:cNvPr descr="_resources/image/logo_rud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3600" y="1193800"/>
            <a:ext cx="400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и задачи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и постановка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Освоить инструменты программной инженерии: git, семантическое версионирование, общепринятые коммиты</a:t>
            </a:r>
          </a:p>
          <a:p>
            <a:pPr lvl="0"/>
            <a:r>
              <a:rPr/>
              <a:t>Подготовить рабочее пространство курса</a:t>
            </a:r>
          </a:p>
          <a:p>
            <a:pPr lvl="0"/>
            <a:r>
              <a:rPr/>
              <a:t>Познакомиться с Julia и DrWatson</a:t>
            </a:r>
          </a:p>
          <a:p>
            <a:pPr lvl="0"/>
            <a:r>
              <a:rPr/>
              <a:t>Реализовать модель экспоненциального роста в литературном стиле</a:t>
            </a:r>
          </a:p>
          <a:p>
            <a:pPr lvl="0"/>
            <a:r>
              <a:rPr/>
              <a:t>Сгенерировать производные форматы и провести параметрическое исследование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требовалось сделать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Настроить git, ssh- и gpg-ключи</a:t>
            </a:r>
          </a:p>
          <a:p>
            <a:pPr lvl="0" indent="-342900" marL="342900">
              <a:buAutoNum type="arabicPeriod"/>
            </a:pPr>
            <a:r>
              <a:rPr/>
              <a:t>Установить Julia и пакеты</a:t>
            </a:r>
          </a:p>
          <a:p>
            <a:pPr lvl="0" indent="-342900" marL="342900">
              <a:buAutoNum type="arabicPeriod"/>
            </a:pPr>
            <a:r>
              <a:rPr/>
              <a:t>Реализовать модель </a:t>
            </a:r>
            <a:r>
              <a:rPr>
                <a:latin typeface="Courier"/>
              </a:rPr>
              <a:t>du/dt = α·u</a:t>
            </a:r>
          </a:p>
          <a:p>
            <a:pPr lvl="0" indent="-342900" marL="342900">
              <a:buAutoNum type="arabicPeriod"/>
            </a:pPr>
            <a:r>
              <a:rPr/>
              <a:t>Преобразовать код в литературный стиль</a:t>
            </a:r>
          </a:p>
          <a:p>
            <a:pPr lvl="0" indent="-342900" marL="342900">
              <a:buAutoNum type="arabicPeriod"/>
            </a:pPr>
            <a:r>
              <a:rPr/>
              <a:t>Сгенерировать </a:t>
            </a:r>
            <a:r>
              <a:rPr>
                <a:latin typeface="Courier"/>
              </a:rPr>
              <a:t>clean</a:t>
            </a:r>
            <a:r>
              <a:rPr/>
              <a:t>, </a:t>
            </a:r>
            <a:r>
              <a:rPr>
                <a:latin typeface="Courier"/>
              </a:rPr>
              <a:t>markdown</a:t>
            </a:r>
            <a:r>
              <a:rPr/>
              <a:t>, </a:t>
            </a:r>
            <a:r>
              <a:rPr>
                <a:latin typeface="Courier"/>
              </a:rPr>
              <a:t>ipynb</a:t>
            </a:r>
            <a:r>
              <a:rPr/>
              <a:t> и добавить параметрическое исследование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Теоретическая часть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Программная инженерия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Семантическое версионирование:</a:t>
            </a:r>
          </a:p>
          <a:p>
            <a:pPr lvl="0"/>
            <a:r>
              <a:rPr/>
              <a:t>формат </a:t>
            </a:r>
            <a:r>
              <a:rPr>
                <a:latin typeface="Courier"/>
              </a:rPr>
              <a:t>МАЖОРНАЯ.МИНОРНАЯ.ПАТЧ</a:t>
            </a:r>
          </a:p>
          <a:p>
            <a:pPr lvl="0"/>
            <a:r>
              <a:rPr/>
              <a:t>MAJOR — несовместимые изменения</a:t>
            </a:r>
          </a:p>
          <a:p>
            <a:pPr lvl="0"/>
            <a:r>
              <a:rPr/>
              <a:t>MINOR — новая функциональность</a:t>
            </a:r>
          </a:p>
          <a:p>
            <a:pPr lvl="0"/>
            <a:r>
              <a:rPr/>
              <a:t>PATCH — исправления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Общепринятые коммиты:</a:t>
            </a:r>
          </a:p>
          <a:p>
            <a:pPr lvl="0"/>
            <a:r>
              <a:rPr>
                <a:latin typeface="Courier"/>
              </a:rPr>
              <a:t>&lt;тип&gt;(&lt;область&gt;): &lt;описание&gt;</a:t>
            </a:r>
          </a:p>
          <a:p>
            <a:pPr lvl="0"/>
            <a:r>
              <a:rPr>
                <a:latin typeface="Courier"/>
              </a:rPr>
              <a:t>feat</a:t>
            </a:r>
            <a:r>
              <a:rPr/>
              <a:t> → MINOR, </a:t>
            </a:r>
            <a:r>
              <a:rPr>
                <a:latin typeface="Courier"/>
              </a:rPr>
              <a:t>fix</a:t>
            </a:r>
            <a:r>
              <a:rPr/>
              <a:t> → PATCH</a:t>
            </a:r>
          </a:p>
          <a:p>
            <a:pPr lvl="0"/>
            <a:r>
              <a:rPr>
                <a:latin typeface="Courier"/>
              </a:rPr>
              <a:t>BREAKING CHANGE</a:t>
            </a:r>
            <a:r>
              <a:rPr/>
              <a:t> → MAJOR</a:t>
            </a:r>
          </a:p>
          <a:p>
            <a:pPr lvl="0"/>
            <a:r>
              <a:rPr/>
              <a:t>также </a:t>
            </a:r>
            <a:r>
              <a:rPr>
                <a:latin typeface="Courier"/>
              </a:rPr>
              <a:t>docs</a:t>
            </a:r>
            <a:r>
              <a:rPr/>
              <a:t>, </a:t>
            </a:r>
            <a:r>
              <a:rPr>
                <a:latin typeface="Courier"/>
              </a:rPr>
              <a:t>refactor</a:t>
            </a:r>
            <a:r>
              <a:rPr/>
              <a:t>, </a:t>
            </a:r>
            <a:r>
              <a:rPr>
                <a:latin typeface="Courier"/>
              </a:rPr>
              <a:t>test</a:t>
            </a:r>
            <a:r>
              <a:rPr/>
              <a:t>, </a:t>
            </a:r>
            <a:r>
              <a:rPr>
                <a:latin typeface="Courier"/>
              </a:rPr>
              <a:t>ci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экспоненциального роста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t>u</m:t>
                          </m:r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u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Аналитическое решение: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u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u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t>α</m:t>
                          </m:r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Время удвоения: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ln</m:t>
                          </m:r>
                          <m:r>
                            <m:t>2</m:t>
                          </m:r>
                        </m:num>
                        <m:den>
                          <m:r>
                            <m:t>α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При </a:t>
                </a:r>
                <a:r>
                  <a:rPr>
                    <a:latin typeface="Courier"/>
                  </a:rPr>
                  <a:t>α &gt; 0</a:t>
                </a:r>
                <a:r>
                  <a:rPr/>
                  <a:t> — рост, при </a:t>
                </a:r>
                <a:r>
                  <a:rPr>
                    <a:latin typeface="Courier"/>
                  </a:rPr>
                  <a:t>α &lt; 0</a:t>
                </a:r>
                <a:r>
                  <a:rPr/>
                  <a:t> — затухание. Применение: биология, финансы, эпидемиология.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Литературное программирование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Код и описание объединены в одном источнике </a:t>
            </a:r>
            <a:r>
              <a:rPr>
                <a:latin typeface="Courier"/>
              </a:rPr>
              <a:t>*_literate.jl</a:t>
            </a:r>
          </a:p>
          <a:p>
            <a:pPr lvl="0"/>
            <a:r>
              <a:rPr>
                <a:latin typeface="Courier"/>
              </a:rPr>
              <a:t>Literate.jl</a:t>
            </a:r>
            <a:r>
              <a:rPr/>
              <a:t> порождает из него:</a:t>
            </a:r>
          </a:p>
          <a:p>
            <a:pPr lvl="1"/>
            <a:r>
              <a:rPr/>
              <a:t>чистый скрипт (</a:t>
            </a:r>
            <a:r>
              <a:rPr>
                <a:latin typeface="Courier"/>
              </a:rPr>
              <a:t>clean</a:t>
            </a:r>
            <a:r>
              <a:rPr/>
              <a:t>)</a:t>
            </a:r>
          </a:p>
          <a:p>
            <a:pPr lvl="1"/>
            <a:r>
              <a:rPr/>
              <a:t>markdown-документ</a:t>
            </a:r>
          </a:p>
          <a:p>
            <a:pPr lvl="1"/>
            <a:r>
              <a:rPr/>
              <a:t>исполняемый Jupyter notebook</a:t>
            </a:r>
          </a:p>
          <a:p>
            <a:pPr lvl="0"/>
            <a:r>
              <a:rPr/>
              <a:t>Проект организован на </a:t>
            </a:r>
            <a:r>
              <a:rPr>
                <a:latin typeface="Courier"/>
              </a:rPr>
              <a:t>DrWatson.jl</a:t>
            </a:r>
            <a:r>
              <a:rPr/>
              <a:t>, расчёты на Julia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Подготовка стенда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config </a:t>
            </a:r>
            <a:r>
              <a:rPr>
                <a:solidFill>
                  <a:srgbClr val="7D9029"/>
                </a:solidFill>
                <a:latin typeface="Courier"/>
              </a:rPr>
              <a:t>--global</a:t>
            </a:r>
            <a:r>
              <a:rPr>
                <a:latin typeface="Courier"/>
              </a:rPr>
              <a:t> user.name </a:t>
            </a:r>
            <a:r>
              <a:rPr>
                <a:solidFill>
                  <a:srgbClr val="4070A0"/>
                </a:solidFill>
                <a:latin typeface="Courier"/>
              </a:rPr>
              <a:t>"Name Surname"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config </a:t>
            </a:r>
            <a:r>
              <a:rPr>
                <a:solidFill>
                  <a:srgbClr val="7D9029"/>
                </a:solidFill>
                <a:latin typeface="Courier"/>
              </a:rPr>
              <a:t>--global</a:t>
            </a:r>
            <a:r>
              <a:rPr>
                <a:latin typeface="Courier"/>
              </a:rPr>
              <a:t> user.email </a:t>
            </a:r>
            <a:r>
              <a:rPr>
                <a:solidFill>
                  <a:srgbClr val="4070A0"/>
                </a:solidFill>
                <a:latin typeface="Courier"/>
              </a:rPr>
              <a:t>"work@mail"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config </a:t>
            </a:r>
            <a:r>
              <a:rPr>
                <a:solidFill>
                  <a:srgbClr val="7D9029"/>
                </a:solidFill>
                <a:latin typeface="Courier"/>
              </a:rPr>
              <a:t>--global</a:t>
            </a:r>
            <a:r>
              <a:rPr>
                <a:latin typeface="Courier"/>
              </a:rPr>
              <a:t> init.defaultBranch master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config </a:t>
            </a:r>
            <a:r>
              <a:rPr>
                <a:solidFill>
                  <a:srgbClr val="7D9029"/>
                </a:solidFill>
                <a:latin typeface="Courier"/>
              </a:rPr>
              <a:t>--global</a:t>
            </a:r>
            <a:r>
              <a:rPr>
                <a:latin typeface="Courier"/>
              </a:rPr>
              <a:t> core.autocrlf input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ssh-keygen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-t</a:t>
            </a:r>
            <a:r>
              <a:rPr>
                <a:latin typeface="Courier"/>
              </a:rPr>
              <a:t> ed25519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"Name Surname"</a:t>
            </a:r>
            <a:br/>
            <a:r>
              <a:rPr>
                <a:latin typeface="Courier"/>
              </a:rPr>
              <a:t>gpg </a:t>
            </a:r>
            <a:r>
              <a:rPr>
                <a:solidFill>
                  <a:srgbClr val="7D9029"/>
                </a:solidFill>
                <a:latin typeface="Courier"/>
              </a:rPr>
              <a:t>--full-generate-key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модели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analytic_growth</a:t>
            </a:r>
            <a:r>
              <a:rPr>
                <a:latin typeface="Courier"/>
              </a:rPr>
              <a:t>(u0, α, t)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u0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exp</a:t>
            </a:r>
            <a:r>
              <a:rPr>
                <a:latin typeface="Courier"/>
              </a:rPr>
              <a:t>(α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doubling_time</a:t>
            </a:r>
            <a:r>
              <a:rPr>
                <a:latin typeface="Courier"/>
              </a:rPr>
              <a:t>(α)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α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run_growth</a:t>
            </a:r>
            <a:r>
              <a:rPr>
                <a:latin typeface="Courier"/>
              </a:rPr>
              <a:t>(u0, α, tspan; dt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u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Float64</a:t>
            </a:r>
            <a:r>
              <a:rPr>
                <a:latin typeface="Courier"/>
              </a:rPr>
              <a:t>(u0)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step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nsteps          </a:t>
            </a:r>
            <a:r>
              <a:rPr i="1">
                <a:solidFill>
                  <a:srgbClr val="60A0B0"/>
                </a:solidFill>
                <a:latin typeface="Courier"/>
              </a:rPr>
              <a:t># метод Рунге–Кутты 4</a:t>
            </a:r>
            <a:br/>
            <a:r>
              <a:rPr>
                <a:latin typeface="Courier"/>
              </a:rPr>
              <a:t>        k1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α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u</a:t>
            </a:r>
            <a:br/>
            <a:r>
              <a:rPr>
                <a:latin typeface="Courier"/>
              </a:rPr>
              <a:t>        k2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α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(u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dt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k1)</a:t>
            </a:r>
            <a:br/>
            <a:r>
              <a:rPr>
                <a:latin typeface="Courier"/>
              </a:rPr>
              <a:t>        k3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α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(u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dt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k2)</a:t>
            </a:r>
            <a:br/>
            <a:r>
              <a:rPr>
                <a:latin typeface="Courier"/>
              </a:rPr>
              <a:t>        k4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α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(u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dt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k3)</a:t>
            </a:r>
            <a:br/>
            <a:r>
              <a:rPr>
                <a:latin typeface="Courier"/>
              </a:rPr>
              <a:t>        u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dt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(k1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k2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k3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k4)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Инициализация и базовый запуск</a:t>
            </a:r>
          </a:p>
        </p:txBody>
      </p:sp>
      <p:pic>
        <p:nvPicPr>
          <p:cNvPr descr="image/screenshots/fig02-instanti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590800"/>
            <a:ext cx="4038600" cy="8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Активация окружения</a:t>
            </a:r>
          </a:p>
        </p:txBody>
      </p:sp>
      <p:pic>
        <p:nvPicPr>
          <p:cNvPr descr="image/screenshots/fig03-growt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2336800"/>
            <a:ext cx="4038600" cy="59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</a:t>
            </a:r>
            <a:r>
              <a:rPr>
                <a:latin typeface="Courier"/>
              </a:rPr>
              <a:t>scripts/growth.jl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Базовый эксперимент (α = 0.3)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Параметры:</a:t>
            </a:r>
          </a:p>
          <a:p>
            <a:pPr lvl="0"/>
            <a:r>
              <a:rPr>
                <a:latin typeface="Courier"/>
              </a:rPr>
              <a:t>u0 = 1.0</a:t>
            </a:r>
            <a:r>
              <a:rPr/>
              <a:t>, </a:t>
            </a:r>
            <a:r>
              <a:rPr>
                <a:latin typeface="Courier"/>
              </a:rPr>
              <a:t>α = 0.3</a:t>
            </a:r>
          </a:p>
          <a:p>
            <a:pPr lvl="0"/>
            <a:r>
              <a:rPr>
                <a:latin typeface="Courier"/>
              </a:rPr>
              <a:t>t ∈ [0, 10]</a:t>
            </a:r>
            <a:r>
              <a:rPr/>
              <a:t>, </a:t>
            </a:r>
            <a:r>
              <a:rPr>
                <a:latin typeface="Courier"/>
              </a:rPr>
              <a:t>dt = 0.1</a:t>
            </a:r>
          </a:p>
          <a:p>
            <a:pPr lvl="0" indent="0" marL="0">
              <a:buNone/>
            </a:pPr>
            <a:r>
              <a:rPr/>
              <a:t>Результаты:</a:t>
            </a:r>
          </a:p>
          <a:p>
            <a:pPr lvl="0"/>
            <a:r>
              <a:rPr>
                <a:latin typeface="Courier"/>
              </a:rPr>
              <a:t>u(10) = 20.0855 = e³</a:t>
            </a:r>
          </a:p>
          <a:p>
            <a:pPr lvl="0"/>
            <a:r>
              <a:rPr/>
              <a:t>время удвоения </a:t>
            </a:r>
            <a:r>
              <a:rPr>
                <a:latin typeface="Courier"/>
              </a:rPr>
              <a:t>T₂ = 2.31</a:t>
            </a:r>
          </a:p>
          <a:p>
            <a:pPr lvl="0"/>
            <a:r>
              <a:rPr/>
              <a:t>погрешность RK4 </a:t>
            </a:r>
            <a:r>
              <a:rPr>
                <a:latin typeface="Courier"/>
              </a:rPr>
              <a:t>≈ 4·10⁻⁷</a:t>
            </a:r>
          </a:p>
        </p:txBody>
      </p:sp>
      <p:pic>
        <p:nvPicPr>
          <p:cNvPr descr="image/generated/growth_b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60500"/>
            <a:ext cx="40386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Рост при α = 0.3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Параметрическое исследование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Сетка </a:t>
            </a:r>
            <a:r>
              <a:rPr>
                <a:latin typeface="Courier"/>
              </a:rPr>
              <a:t>α ∈ {0.1, 0.3, 0.5, 0.8, 1.0}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u(10)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T₂ = ln2/α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6.93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148.4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ростом </a:t>
            </a:r>
            <a:r>
              <a:rPr>
                <a:latin typeface="Courier"/>
              </a:rPr>
              <a:t>α</a:t>
            </a:r>
            <a:r>
              <a:rPr/>
              <a:t> рост ускоряется, а время удвоения убывает.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параметрического исследования</a:t>
            </a:r>
          </a:p>
        </p:txBody>
      </p:sp>
      <p:pic>
        <p:nvPicPr>
          <p:cNvPr descr="image/screenshots/fig04-growth-para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8229600" cy="176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</a:t>
            </a:r>
            <a:r>
              <a:rPr>
                <a:latin typeface="Courier"/>
              </a:rPr>
              <a:t>scripts/growth_parameters.jl</a:t>
            </a:r>
            <a:r>
              <a:rPr/>
              <a:t> — 5 сценариев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Сравнение траекторий и время удвоения</a:t>
            </a:r>
          </a:p>
        </p:txBody>
      </p:sp>
      <p:pic>
        <p:nvPicPr>
          <p:cNvPr descr="image/generated/growth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40386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Траектории по α</a:t>
            </a:r>
          </a:p>
        </p:txBody>
      </p:sp>
      <p:pic>
        <p:nvPicPr>
          <p:cNvPr descr="image/generated/growth_doubling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98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Время удвоения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Имитационные точки ложатся на теоретическую кривую </a:t>
            </a:r>
            <a:r>
              <a:rPr>
                <a:latin typeface="Courier"/>
              </a:rPr>
              <a:t>T₂ = ln2/α</a:t>
            </a:r>
            <a:r>
              <a:rPr/>
              <a:t>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Воспроизводимость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Literate-артефакты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Единый источник </a:t>
            </a:r>
            <a:r>
              <a:rPr>
                <a:latin typeface="Courier"/>
              </a:rPr>
              <a:t>*_literate.jl</a:t>
            </a:r>
            <a:r>
              <a:rPr/>
              <a:t> через </a:t>
            </a:r>
            <a:r>
              <a:rPr>
                <a:latin typeface="Courier"/>
              </a:rPr>
              <a:t>Literate.jl</a:t>
            </a:r>
            <a:r>
              <a:rPr/>
              <a:t> порождает чистый скрипт, markdown и исполняемый ноутбук</a:t>
            </a:r>
          </a:p>
          <a:p>
            <a:pPr lvl="0"/>
            <a:r>
              <a:rPr/>
              <a:t>Генерация одним сценарием </a:t>
            </a:r>
            <a:r>
              <a:rPr>
                <a:latin typeface="Courier"/>
              </a:rPr>
              <a:t>scripts/tangle.jl</a:t>
            </a:r>
          </a:p>
          <a:p>
            <a:pPr lvl="0"/>
            <a:r>
              <a:rPr/>
              <a:t>Notebook-файлы выполняются при генерации</a:t>
            </a:r>
          </a:p>
          <a:p>
            <a:pPr lvl="0" indent="0">
              <a:buNone/>
            </a:pPr>
            <a:r>
              <a:rPr>
                <a:latin typeface="Courier"/>
              </a:rPr>
              <a:t>generated for growth
generated for growth_parameters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Генерация и проверка артефактов</a:t>
            </a:r>
          </a:p>
        </p:txBody>
      </p:sp>
      <p:pic>
        <p:nvPicPr>
          <p:cNvPr descr="image/screenshots/fig05-tang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05000"/>
            <a:ext cx="4038600" cy="146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</a:t>
            </a:r>
            <a:r>
              <a:rPr>
                <a:latin typeface="Courier"/>
              </a:rPr>
              <a:t>scripts/tangle.jl</a:t>
            </a:r>
          </a:p>
        </p:txBody>
      </p:sp>
      <p:pic>
        <p:nvPicPr>
          <p:cNvPr descr="image/screenshots/fig06-check-fil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524000"/>
            <a:ext cx="40386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 каталогов результатов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Освоены git, семантическое версионирование, общепринятые коммиты, ssh и gpg</a:t>
            </a:r>
          </a:p>
          <a:p>
            <a:pPr lvl="0"/>
            <a:r>
              <a:rPr/>
              <a:t>Реализована модель </a:t>
            </a:r>
            <a:r>
              <a:rPr>
                <a:latin typeface="Courier"/>
              </a:rPr>
              <a:t>du/dt = α·u</a:t>
            </a:r>
            <a:r>
              <a:rPr/>
              <a:t> методом Рунге–Кутты 4-го порядка</a:t>
            </a:r>
          </a:p>
          <a:p>
            <a:pPr lvl="0"/>
            <a:r>
              <a:rPr/>
              <a:t>Численное решение совпало с аналитикой </a:t>
            </a:r>
            <a:r>
              <a:rPr>
                <a:latin typeface="Courier"/>
              </a:rPr>
              <a:t>u(t) = u₀e^{αt}</a:t>
            </a:r>
            <a:r>
              <a:rPr/>
              <a:t> с погрешностью </a:t>
            </a:r>
            <a:r>
              <a:rPr>
                <a:latin typeface="Courier"/>
              </a:rPr>
              <a:t>≈ 10⁻⁷</a:t>
            </a:r>
          </a:p>
          <a:p>
            <a:pPr lvl="0"/>
            <a:r>
              <a:rPr/>
              <a:t>Параметрическое исследование подтвердило закон </a:t>
            </a:r>
            <a:r>
              <a:rPr>
                <a:latin typeface="Courier"/>
              </a:rPr>
              <a:t>T₂ = ln2/α</a:t>
            </a:r>
          </a:p>
          <a:p>
            <a:pPr lvl="0"/>
            <a:r>
              <a:rPr/>
              <a:t>Проект оформлен воспроизводимо с помощью </a:t>
            </a:r>
            <a:r>
              <a:rPr>
                <a:latin typeface="Courier"/>
              </a:rPr>
              <a:t>DrWatson</a:t>
            </a:r>
            <a:r>
              <a:rPr/>
              <a:t> и </a:t>
            </a:r>
            <a:r>
              <a:rPr>
                <a:latin typeface="Courier"/>
              </a:rPr>
              <a:t>Literate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</dc:title>
  <dc:creator>Глущенко Евгений Игоревич</dc:creator>
  <cp:keywords/>
  <dcterms:created xsi:type="dcterms:W3CDTF">2026-05-29T19:16:43Z</dcterms:created>
  <dcterms:modified xsi:type="dcterms:W3CDTF">2026-05-29T19:16:43Z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2026-05-29</vt:lpwstr>
  </property>
  <property fmtid="{D5CDD505-2E9C-101B-9397-08002B2CF9AE}" pid="9" name="date-format">
    <vt:lpwstr>YYYY-MM-DD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license">
    <vt:lpwstr/>
  </property>
  <property fmtid="{D5CDD505-2E9C-101B-9397-08002B2CF9AE}" pid="16" name="subtitle">
    <vt:lpwstr>Лабораторная работа №1. Подготовка стенда. Модель экспоненциального роста</vt:lpwstr>
  </property>
  <property fmtid="{D5CDD505-2E9C-101B-9397-08002B2CF9AE}" pid="17" name="toc-title">
    <vt:lpwstr>Содержание</vt:lpwstr>
  </property>
</Properties>
</file>