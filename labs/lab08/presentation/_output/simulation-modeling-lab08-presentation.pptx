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3.png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0.png" /><Relationship Id="rId2" Type="http://schemas.openxmlformats.org/officeDocument/2006/relationships/image" Target="../media/image9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2.png" /><Relationship Id="rId2" Type="http://schemas.openxmlformats.org/officeDocument/2006/relationships/image" Target="../media/image11.png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14.png" /><Relationship Id="rId2" Type="http://schemas.openxmlformats.org/officeDocument/2006/relationships/image" Target="../media/image13.png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Имитационное моделирование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№8. Реализация модели SIR в дискретно-событийном подходе</a:t>
            </a:r>
            <a:br/>
            <a:br/>
            <a:r>
              <a:rPr/>
              <a:t>Глущенко Евгений Игоревич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2026-05-29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 и работа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Глущенко Евгений Игоревич</a:t>
            </a:r>
          </a:p>
          <a:p>
            <a:pPr lvl="0"/>
            <a:r>
              <a:rPr/>
              <a:t>студент группы НФИбд-01-23</a:t>
            </a:r>
          </a:p>
          <a:p>
            <a:pPr lvl="0"/>
            <a:r>
              <a:rPr/>
              <a:t>студенческий билет: 1132239110</a:t>
            </a:r>
          </a:p>
          <a:p>
            <a:pPr lvl="0"/>
            <a:r>
              <a:rPr/>
              <a:t>РУДН имени Патриса Лумумбы</a:t>
            </a:r>
          </a:p>
          <a:p>
            <a:pPr lvl="0"/>
            <a:r>
              <a:rPr/>
              <a:t>тема: дискретно-событийная модель SIR</a:t>
            </a:r>
          </a:p>
          <a:p>
            <a:pPr lvl="0"/>
            <a:r>
              <a:rPr/>
              <a:t>средства: Julia, DrWatson, ConcurrentSim, ResumableFunctions, CairoMakie, Literate.jl</a:t>
            </a:r>
          </a:p>
        </p:txBody>
      </p:sp>
      <p:pic>
        <p:nvPicPr>
          <p:cNvPr descr="_resources/image/logo_rud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73600" y="1193800"/>
            <a:ext cx="4000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Цель и задачи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и постановка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Изучить дискретно-событийный подход к имитационному моделированию</a:t>
            </a:r>
          </a:p>
          <a:p>
            <a:pPr lvl="0"/>
            <a:r>
              <a:rPr/>
              <a:t>Реализовать стохастическую модель SIR на </a:t>
            </a:r>
            <a:r>
              <a:rPr>
                <a:latin typeface="Courier"/>
              </a:rPr>
              <a:t>ConcurrentSim</a:t>
            </a:r>
          </a:p>
          <a:p>
            <a:pPr lvl="0"/>
            <a:r>
              <a:rPr/>
              <a:t>Сравнить имитацию со стохастическим ансамблем и детерминированной ОДУ</a:t>
            </a:r>
          </a:p>
          <a:p>
            <a:pPr lvl="0"/>
            <a:r>
              <a:rPr/>
              <a:t>Провести анализ чувствительности к параметрам </a:t>
            </a:r>
            <a:r>
              <a:rPr>
                <a:latin typeface="Courier"/>
              </a:rPr>
              <a:t>β</a:t>
            </a:r>
            <a:r>
              <a:rPr/>
              <a:t>, </a:t>
            </a:r>
            <a:r>
              <a:rPr>
                <a:latin typeface="Courier"/>
              </a:rPr>
              <a:t>c</a:t>
            </a:r>
            <a:r>
              <a:rPr/>
              <a:t>, </a:t>
            </a:r>
            <a:r>
              <a:rPr>
                <a:latin typeface="Courier"/>
              </a:rPr>
              <a:t>γ</a:t>
            </a:r>
          </a:p>
          <a:p>
            <a:pPr lvl="0"/>
            <a:r>
              <a:rPr/>
              <a:t>Оценить производительность и подготовить воспроизводимые материалы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Что требовалось сделать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Создать Julia-проект в структуре </a:t>
            </a:r>
            <a:r>
              <a:rPr>
                <a:latin typeface="Courier"/>
              </a:rPr>
              <a:t>DrWatson</a:t>
            </a:r>
          </a:p>
          <a:p>
            <a:pPr lvl="0" indent="-342900" marL="342900">
              <a:buAutoNum type="arabicPeriod"/>
            </a:pPr>
            <a:r>
              <a:rPr/>
              <a:t>Реализовать модуль </a:t>
            </a:r>
            <a:r>
              <a:rPr>
                <a:latin typeface="Courier"/>
              </a:rPr>
              <a:t>src/SIRModels.jl</a:t>
            </a:r>
          </a:p>
          <a:p>
            <a:pPr lvl="0" indent="-342900" marL="342900">
              <a:buAutoNum type="arabicPeriod"/>
            </a:pPr>
            <a:r>
              <a:rPr/>
              <a:t>Преобразовать код в литературный стиль</a:t>
            </a:r>
          </a:p>
          <a:p>
            <a:pPr lvl="0" indent="-342900" marL="342900">
              <a:buAutoNum type="arabicPeriod"/>
            </a:pPr>
            <a:r>
              <a:rPr/>
              <a:t>Сгенерировать </a:t>
            </a:r>
            <a:r>
              <a:rPr>
                <a:latin typeface="Courier"/>
              </a:rPr>
              <a:t>clean</a:t>
            </a:r>
            <a:r>
              <a:rPr/>
              <a:t>, </a:t>
            </a:r>
            <a:r>
              <a:rPr>
                <a:latin typeface="Courier"/>
              </a:rPr>
              <a:t>markdown</a:t>
            </a:r>
            <a:r>
              <a:rPr/>
              <a:t> и </a:t>
            </a:r>
            <a:r>
              <a:rPr>
                <a:latin typeface="Courier"/>
              </a:rPr>
              <a:t>ipynb</a:t>
            </a:r>
            <a:r>
              <a:rPr/>
              <a:t>-материалы</a:t>
            </a:r>
          </a:p>
          <a:p>
            <a:pPr lvl="0" indent="-342900" marL="342900">
              <a:buAutoNum type="arabicPeriod"/>
            </a:pPr>
            <a:r>
              <a:rPr/>
              <a:t>Добавить вычисление для набора параметров и интегрировать в отчёт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Теоретическая часть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Модель SIR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Классы популяции размера </a:t>
                </a:r>
                <a:r>
                  <a:rPr>
                    <a:latin typeface="Courier"/>
                  </a:rPr>
                  <a:t>N</a:t>
                </a:r>
                <a:r>
                  <a:rPr/>
                  <a:t>:</a:t>
                </a:r>
              </a:p>
              <a:p>
                <a:pPr lvl="0"/>
                <a:r>
                  <a:rPr>
                    <a:latin typeface="Courier"/>
                  </a:rPr>
                  <a:t>S</a:t>
                </a:r>
                <a:r>
                  <a:rPr/>
                  <a:t> — восприимчивые</a:t>
                </a:r>
              </a:p>
              <a:p>
                <a:pPr lvl="0"/>
                <a:r>
                  <a:rPr>
                    <a:latin typeface="Courier"/>
                  </a:rPr>
                  <a:t>I</a:t>
                </a:r>
                <a:r>
                  <a:rPr/>
                  <a:t> — инфицированные</a:t>
                </a:r>
              </a:p>
              <a:p>
                <a:pPr lvl="0"/>
                <a:r>
                  <a:rPr>
                    <a:latin typeface="Courier"/>
                  </a:rPr>
                  <a:t>R</a:t>
                </a:r>
                <a:r>
                  <a:rPr/>
                  <a:t> — переболевшие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S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−</m:t>
                      </m:r>
                      <m:r>
                        <m:t>β</m:t>
                      </m:r>
                      <m:r>
                        <m:t>c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r>
                            <m:t>I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d</m:t>
                          </m:r>
                          <m:r>
                            <m:t>I</m:t>
                          </m:r>
                        </m:num>
                        <m:den>
                          <m:r>
                            <m:t>d</m:t>
                          </m:r>
                          <m:r>
                            <m:t>t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r>
                        <m:t>β</m:t>
                      </m:r>
                      <m:r>
                        <m:t>c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  <m:r>
                            <m:t>I</m:t>
                          </m:r>
                        </m:num>
                        <m:den>
                          <m:r>
                            <m:t>N</m:t>
                          </m:r>
                        </m:den>
                      </m:f>
                      <m:r>
                        <m:rPr>
                          <m:sty m:val="p"/>
                        </m:rPr>
                        <m:t>−</m:t>
                      </m:r>
                      <m:r>
                        <m:t>γ</m:t>
                      </m:r>
                      <m:r>
                        <m:t>I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Параметры:</a:t>
                </a:r>
              </a:p>
              <a:p>
                <a:pPr lvl="0"/>
                <a:r>
                  <a:rPr>
                    <a:latin typeface="Courier"/>
                  </a:rPr>
                  <a:t>β</a:t>
                </a:r>
                <a:r>
                  <a:rPr/>
                  <a:t> — вероятность передачи</a:t>
                </a:r>
              </a:p>
              <a:p>
                <a:pPr lvl="0"/>
                <a:r>
                  <a:rPr>
                    <a:latin typeface="Courier"/>
                  </a:rPr>
                  <a:t>c</a:t>
                </a:r>
                <a:r>
                  <a:rPr/>
                  <a:t> — частота контактов</a:t>
                </a:r>
              </a:p>
              <a:p>
                <a:pPr lvl="0"/>
                <a:r>
                  <a:rPr>
                    <a:latin typeface="Courier"/>
                  </a:rPr>
                  <a:t>γ</a:t>
                </a:r>
                <a:r>
                  <a:rPr/>
                  <a:t> — интенсивность выздоровления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t>R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β</m:t>
                          </m:r>
                          <m:r>
                            <m:t>c</m:t>
                          </m:r>
                        </m:num>
                        <m:den>
                          <m:r>
                            <m:t>γ</m:t>
                          </m:r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При </a:t>
                </a:r>
                <a:r>
                  <a:rPr>
                    <a:latin typeface="Courier"/>
                  </a:rPr>
                  <a:t>R_0 &gt; 1</a:t>
                </a:r>
                <a:r>
                  <a:rPr/>
                  <a:t> — вспышка, при </a:t>
                </a:r>
                <a:r>
                  <a:rPr>
                    <a:latin typeface="Courier"/>
                  </a:rPr>
                  <a:t>R_0 \le 1</a:t>
                </a:r>
                <a:r>
                  <a:rPr/>
                  <a:t> — затухание.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Дискретно-событийный подход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Состояние меняется только в моменты событий</a:t>
            </a:r>
          </a:p>
          <a:p>
            <a:pPr lvl="0"/>
            <a:r>
              <a:rPr/>
              <a:t>Каждый индивид — отдельный процесс</a:t>
            </a:r>
          </a:p>
          <a:p>
            <a:pPr lvl="0"/>
            <a:r>
              <a:rPr>
                <a:latin typeface="Courier"/>
              </a:rPr>
              <a:t>ResumableFunctions</a:t>
            </a:r>
            <a:r>
              <a:rPr/>
              <a:t>: </a:t>
            </a:r>
            <a:r>
              <a:rPr>
                <a:latin typeface="Courier"/>
              </a:rPr>
              <a:t>@resumable</a:t>
            </a:r>
            <a:r>
              <a:rPr/>
              <a:t> и </a:t>
            </a:r>
            <a:r>
              <a:rPr>
                <a:latin typeface="Courier"/>
              </a:rPr>
              <a:t>@yield</a:t>
            </a:r>
          </a:p>
          <a:p>
            <a:pPr lvl="0"/>
            <a:r>
              <a:rPr>
                <a:latin typeface="Courier"/>
              </a:rPr>
              <a:t>ConcurrentSim</a:t>
            </a:r>
            <a:r>
              <a:rPr/>
              <a:t>: виртуальное время, </a:t>
            </a:r>
            <a:r>
              <a:rPr>
                <a:latin typeface="Courier"/>
              </a:rPr>
              <a:t>timeout</a:t>
            </a:r>
            <a:r>
              <a:rPr/>
              <a:t>, </a:t>
            </a:r>
            <a:r>
              <a:rPr>
                <a:latin typeface="Courier"/>
              </a:rPr>
              <a:t>run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Логика индивида:</a:t>
            </a:r>
          </a:p>
          <a:p>
            <a:pPr lvl="0"/>
            <a:r>
              <a:rPr/>
              <a:t>пока </a:t>
            </a:r>
            <a:r>
              <a:rPr>
                <a:latin typeface="Courier"/>
              </a:rPr>
              <a:t>:S</a:t>
            </a:r>
            <a:r>
              <a:rPr/>
              <a:t> — ждёт контакт через </a:t>
            </a:r>
            <a:r>
              <a:rPr>
                <a:latin typeface="Courier"/>
              </a:rPr>
              <a:t>Exp(1/c)</a:t>
            </a:r>
          </a:p>
          <a:p>
            <a:pPr lvl="0"/>
            <a:r>
              <a:rPr/>
              <a:t>выбирает случайного собеседника</a:t>
            </a:r>
          </a:p>
          <a:p>
            <a:pPr lvl="0"/>
            <a:r>
              <a:rPr/>
              <a:t>если тот </a:t>
            </a:r>
            <a:r>
              <a:rPr>
                <a:latin typeface="Courier"/>
              </a:rPr>
              <a:t>:I</a:t>
            </a:r>
            <a:r>
              <a:rPr/>
              <a:t>, заражается с вероятностью </a:t>
            </a:r>
            <a:r>
              <a:rPr>
                <a:latin typeface="Courier"/>
              </a:rPr>
              <a:t>β</a:t>
            </a:r>
          </a:p>
          <a:p>
            <a:pPr lvl="0"/>
            <a:r>
              <a:rPr/>
              <a:t>став </a:t>
            </a:r>
            <a:r>
              <a:rPr>
                <a:latin typeface="Courier"/>
              </a:rPr>
              <a:t>:I</a:t>
            </a:r>
            <a:r>
              <a:rPr/>
              <a:t>, выздоравливает через </a:t>
            </a:r>
            <a:r>
              <a:rPr>
                <a:latin typeface="Courier"/>
              </a:rPr>
              <a:t>Exp(1/γ)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Конечный размер эпидемии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Итоговая доля переболевших </a:t>
                </a:r>
                <a:r>
                  <a:rPr>
                    <a:latin typeface="Courier"/>
                  </a:rPr>
                  <a:t>z = R(\infty)/N</a:t>
                </a:r>
              </a:p>
              <a:p>
                <a:pPr lvl="0"/>
                <a:r>
                  <a:rPr/>
                  <a:t>Удовлетворяет уравнению конечного размера: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z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1</m:t>
                      </m:r>
                      <m:r>
                        <m:rPr>
                          <m:sty m:val="p"/>
                        </m:rPr>
                        <m:t>−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R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  <m:r>
                            <m:t>z</m:t>
                          </m:r>
                        </m:sup>
                      </m:sSup>
                    </m:oMath>
                  </m:oMathPara>
                </a14:m>
              </a:p>
              <a:p>
                <a:pPr lvl="0"/>
                <a:r>
                  <a:rPr/>
                  <a:t>При </a:t>
                </a:r>
                <a:r>
                  <a:rPr>
                    <a:latin typeface="Courier"/>
                  </a:rPr>
                  <a:t>R_0 \le 1</a:t>
                </a:r>
                <a:r>
                  <a:rPr/>
                  <a:t> корень </a:t>
                </a:r>
                <a:r>
                  <a:rPr>
                    <a:latin typeface="Courier"/>
                  </a:rPr>
                  <a:t>z = 0</a:t>
                </a:r>
                <a:r>
                  <a:rPr/>
                  <a:t> (эпидемии нет)</a:t>
                </a:r>
              </a:p>
              <a:p>
                <a:pPr lvl="0"/>
                <a:r>
                  <a:rPr/>
                  <a:t>При </a:t>
                </a:r>
                <a:r>
                  <a:rPr>
                    <a:latin typeface="Courier"/>
                  </a:rPr>
                  <a:t>R_0 &gt; 1</a:t>
                </a:r>
                <a:r>
                  <a:rPr/>
                  <a:t> положительный корень определяет масштаб эпидемии</a:t>
                </a:r>
              </a:p>
              <a:p>
                <a:pPr lvl="0"/>
                <a:r>
                  <a:rPr/>
                  <a:t>Решается методом простых итераций, служит аналитической базой для сравнения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Реализация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Структура проекта и запуск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src/SIRModels.jl</a:t>
            </a:r>
            <a:r>
              <a:rPr/>
              <a:t> — модель, ОДУ, скан, графики</a:t>
            </a:r>
          </a:p>
          <a:p>
            <a:pPr lvl="0"/>
            <a:r>
              <a:rPr>
                <a:latin typeface="Courier"/>
              </a:rPr>
              <a:t>scripts/sir.jl</a:t>
            </a:r>
            <a:r>
              <a:rPr/>
              <a:t> — базовый эксперимент</a:t>
            </a:r>
          </a:p>
          <a:p>
            <a:pPr lvl="0"/>
            <a:r>
              <a:rPr>
                <a:latin typeface="Courier"/>
              </a:rPr>
              <a:t>scripts/sir_parameters.jl</a:t>
            </a:r>
            <a:r>
              <a:rPr/>
              <a:t> — анализ чувствительности</a:t>
            </a:r>
          </a:p>
          <a:p>
            <a:pPr lvl="0"/>
            <a:r>
              <a:rPr>
                <a:latin typeface="Courier"/>
              </a:rPr>
              <a:t>scripts/tangle.jl</a:t>
            </a:r>
            <a:r>
              <a:rPr/>
              <a:t> — генерация literate-артефактов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~/labs/lab08/project</a:t>
            </a:r>
            <a:br/>
            <a:r>
              <a:rPr>
                <a:latin typeface="Courier"/>
              </a:rPr>
              <a:t>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'include("scripts/sir.jl")'</a:t>
            </a:r>
            <a:br/>
            <a:r>
              <a:rPr>
                <a:latin typeface="Courier"/>
              </a:rPr>
              <a:t>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</a:t>
            </a:r>
            <a:r>
              <a:rPr>
                <a:solidFill>
                  <a:srgbClr val="7D9029"/>
                </a:solidFill>
                <a:latin typeface="Courier"/>
              </a:rPr>
              <a:t>-e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902000"/>
                </a:solidFill>
                <a:latin typeface="Courier"/>
              </a:rPr>
              <a:t>\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4070A0"/>
                </a:solidFill>
                <a:latin typeface="Courier"/>
              </a:rPr>
              <a:t>'include("scripts/sir_parameters.jl")'</a:t>
            </a:r>
            <a:br/>
            <a:r>
              <a:rPr>
                <a:latin typeface="Courier"/>
              </a:rPr>
              <a:t>julia </a:t>
            </a:r>
            <a:r>
              <a:rPr>
                <a:solidFill>
                  <a:srgbClr val="7D9029"/>
                </a:solidFill>
                <a:latin typeface="Courier"/>
              </a:rPr>
              <a:t>--project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. scripts/tangle.jl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Инициализация и базовый запуск</a:t>
            </a:r>
          </a:p>
        </p:txBody>
      </p:sp>
      <p:pic>
        <p:nvPicPr>
          <p:cNvPr descr="image/screenshots/fig01-instantiat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603500"/>
            <a:ext cx="4038600" cy="7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Активация окружения </a:t>
            </a:r>
            <a:r>
              <a:rPr>
                <a:latin typeface="Courier"/>
              </a:rPr>
              <a:t>Pkg.instantiate()</a:t>
            </a:r>
          </a:p>
        </p:txBody>
      </p:sp>
      <p:pic>
        <p:nvPicPr>
          <p:cNvPr descr="image/screenshots/fig02-sir-baseline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2374900"/>
            <a:ext cx="4038600" cy="533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Базовый запуск </a:t>
            </a:r>
            <a:r>
              <a:rPr>
                <a:latin typeface="Courier"/>
              </a:rPr>
              <a:t>scripts/sir.jl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Процесс агента </a:t>
            </a:r>
            <a:r>
              <a:rPr>
                <a:latin typeface="Courier"/>
              </a:rPr>
              <a:t>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BC7A00"/>
                </a:solidFill>
                <a:latin typeface="Courier"/>
              </a:rPr>
              <a:t>@resumable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function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live</a:t>
            </a:r>
            <a:r>
              <a:rPr>
                <a:latin typeface="Courier"/>
              </a:rPr>
              <a:t>(env, individual, m)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individual.status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S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C7A00"/>
                </a:solidFill>
                <a:latin typeface="Courier"/>
              </a:rPr>
              <a:t>@yield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timeout</a:t>
            </a:r>
            <a:r>
              <a:rPr>
                <a:latin typeface="Courier"/>
              </a:rPr>
              <a:t>(env, 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(m.rng, </a:t>
            </a:r>
            <a:r>
              <a:rPr>
                <a:solidFill>
                  <a:srgbClr val="06287E"/>
                </a:solidFill>
                <a:latin typeface="Courier"/>
              </a:rPr>
              <a:t>Exponential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m.c)))</a:t>
            </a:r>
            <a:br/>
            <a:r>
              <a:rPr>
                <a:latin typeface="Courier"/>
              </a:rPr>
              <a:t>        alter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individual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while</a:t>
            </a:r>
            <a:r>
              <a:rPr>
                <a:latin typeface="Courier"/>
              </a:rPr>
              <a:t> alter </a:t>
            </a:r>
            <a:r>
              <a:rPr>
                <a:solidFill>
                  <a:srgbClr val="666666"/>
                </a:solidFill>
                <a:latin typeface="Courier"/>
              </a:rPr>
              <a:t>===</a:t>
            </a:r>
            <a:r>
              <a:rPr>
                <a:latin typeface="Courier"/>
              </a:rPr>
              <a:t> individual</a:t>
            </a:r>
            <a:br/>
            <a:r>
              <a:rPr>
                <a:latin typeface="Courier"/>
              </a:rPr>
              <a:t>            alter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m.individuals[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(m.rng,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solidFill>
                  <a:srgbClr val="06287E"/>
                </a:solidFill>
                <a:latin typeface="Courier"/>
              </a:rPr>
              <a:t>length</a:t>
            </a:r>
            <a:r>
              <a:rPr>
                <a:latin typeface="Courier"/>
              </a:rPr>
              <a:t>(m.individuals))]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alter.status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I </a:t>
            </a:r>
            <a:r>
              <a:rPr>
                <a:solidFill>
                  <a:srgbClr val="666666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(m.rng)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m.β</a:t>
            </a:r>
            <a:br/>
            <a:r>
              <a:rPr>
                <a:latin typeface="Courier"/>
              </a:rPr>
              <a:t>            individual.status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I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06287E"/>
                </a:solidFill>
                <a:latin typeface="Courier"/>
              </a:rPr>
              <a:t>infection_update!</a:t>
            </a:r>
            <a:r>
              <a:rPr>
                <a:latin typeface="Courier"/>
              </a:rPr>
              <a:t>(env, m)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individual.status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I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BC7A00"/>
                </a:solidFill>
                <a:latin typeface="Courier"/>
              </a:rPr>
              <a:t>@yield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timeout</a:t>
            </a:r>
            <a:r>
              <a:rPr>
                <a:latin typeface="Courier"/>
              </a:rPr>
              <a:t>(env, </a:t>
            </a:r>
            <a:r>
              <a:rPr>
                <a:solidFill>
                  <a:srgbClr val="06287E"/>
                </a:solidFill>
                <a:latin typeface="Courier"/>
              </a:rPr>
              <a:t>rand</a:t>
            </a:r>
            <a:r>
              <a:rPr>
                <a:latin typeface="Courier"/>
              </a:rPr>
              <a:t>(m.rng, </a:t>
            </a:r>
            <a:r>
              <a:rPr>
                <a:solidFill>
                  <a:srgbClr val="06287E"/>
                </a:solidFill>
                <a:latin typeface="Courier"/>
              </a:rPr>
              <a:t>Exponential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 m.γ)))</a:t>
            </a:r>
            <a:br/>
            <a:r>
              <a:rPr>
                <a:latin typeface="Courier"/>
              </a:rPr>
              <a:t>        individual.status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R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recovery_update!</a:t>
            </a:r>
            <a:r>
              <a:rPr>
                <a:latin typeface="Courier"/>
              </a:rPr>
              <a:t>(env, m)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end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и запуск модели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make_sir_model(u0, p)</a:t>
            </a:r>
            <a:r>
              <a:rPr/>
              <a:t> — создаёт популяцию индивидов и временные ряды</a:t>
            </a:r>
          </a:p>
          <a:p>
            <a:pPr lvl="0"/>
            <a:r>
              <a:rPr>
                <a:latin typeface="Courier"/>
              </a:rPr>
              <a:t>activate_sir!(m)</a:t>
            </a:r>
            <a:r>
              <a:rPr/>
              <a:t> — регистрирует процессы агентов</a:t>
            </a:r>
          </a:p>
          <a:p>
            <a:pPr lvl="0"/>
            <a:r>
              <a:rPr>
                <a:latin typeface="Courier"/>
              </a:rPr>
              <a:t>run_sir!(m, tf)</a:t>
            </a:r>
            <a:r>
              <a:rPr/>
              <a:t> — продвигает виртуальное время до </a:t>
            </a:r>
            <a:r>
              <a:rPr>
                <a:latin typeface="Courier"/>
              </a:rPr>
              <a:t>tf</a:t>
            </a:r>
          </a:p>
          <a:p>
            <a:pPr lvl="0"/>
            <a:r>
              <a:rPr>
                <a:latin typeface="Courier"/>
              </a:rPr>
              <a:t>out(m)</a:t>
            </a:r>
            <a:r>
              <a:rPr/>
              <a:t> — собирает результат в </a:t>
            </a:r>
            <a:r>
              <a:rPr>
                <a:latin typeface="Courier"/>
              </a:rPr>
              <a:t>DataFrame</a:t>
            </a:r>
            <a:r>
              <a:rPr/>
              <a:t> с колонками </a:t>
            </a:r>
            <a:r>
              <a:rPr>
                <a:latin typeface="Courier"/>
              </a:rPr>
              <a:t>t</a:t>
            </a:r>
            <a:r>
              <a:rPr/>
              <a:t>, </a:t>
            </a:r>
            <a:r>
              <a:rPr>
                <a:latin typeface="Courier"/>
              </a:rPr>
              <a:t>S</a:t>
            </a:r>
            <a:r>
              <a:rPr/>
              <a:t>, </a:t>
            </a:r>
            <a:r>
              <a:rPr>
                <a:latin typeface="Courier"/>
              </a:rPr>
              <a:t>I</a:t>
            </a:r>
            <a:r>
              <a:rPr/>
              <a:t>, </a:t>
            </a:r>
            <a:r>
              <a:rPr>
                <a:latin typeface="Courier"/>
              </a:rPr>
              <a:t>R</a:t>
            </a:r>
          </a:p>
          <a:p>
            <a:pPr lvl="0"/>
            <a:r>
              <a:rPr>
                <a:latin typeface="Courier"/>
              </a:rPr>
              <a:t>StableRNG</a:t>
            </a:r>
            <a:r>
              <a:rPr/>
              <a:t> обеспечивает полную воспроизводимость прогонов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 базового эксперимента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Базовый сценарий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Параметры:</a:t>
            </a:r>
          </a:p>
          <a:p>
            <a:pPr lvl="0"/>
            <a:r>
              <a:rPr>
                <a:latin typeface="Courier"/>
              </a:rPr>
              <a:t>u0 = [990, 10, 0]</a:t>
            </a:r>
          </a:p>
          <a:p>
            <a:pPr lvl="0"/>
            <a:r>
              <a:rPr>
                <a:latin typeface="Courier"/>
              </a:rPr>
              <a:t>p = [0.05, 10.0, 0.25]</a:t>
            </a:r>
          </a:p>
          <a:p>
            <a:pPr lvl="0"/>
            <a:r>
              <a:rPr>
                <a:latin typeface="Courier"/>
              </a:rPr>
              <a:t>tmax = 40</a:t>
            </a:r>
            <a:r>
              <a:rPr/>
              <a:t>, </a:t>
            </a:r>
            <a:r>
              <a:rPr>
                <a:latin typeface="Courier"/>
              </a:rPr>
              <a:t>seed = 1234</a:t>
            </a:r>
          </a:p>
          <a:p>
            <a:pPr lvl="0"/>
            <a:r>
              <a:rPr>
                <a:latin typeface="Courier"/>
              </a:rPr>
              <a:t>R_0 = 2.0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Результаты:</a:t>
            </a:r>
          </a:p>
          <a:p>
            <a:pPr lvl="0"/>
            <a:r>
              <a:rPr/>
              <a:t>пик инфицированных: </a:t>
            </a:r>
            <a:r>
              <a:rPr>
                <a:latin typeface="Courier"/>
              </a:rPr>
              <a:t>152</a:t>
            </a:r>
          </a:p>
          <a:p>
            <a:pPr lvl="0"/>
            <a:r>
              <a:rPr/>
              <a:t>время пика: </a:t>
            </a:r>
            <a:r>
              <a:rPr>
                <a:latin typeface="Courier"/>
              </a:rPr>
              <a:t>t ≈ 18.4</a:t>
            </a:r>
          </a:p>
          <a:p>
            <a:pPr lvl="0"/>
            <a:r>
              <a:rPr/>
              <a:t>переболело: </a:t>
            </a:r>
            <a:r>
              <a:rPr>
                <a:latin typeface="Courier"/>
              </a:rPr>
              <a:t>759</a:t>
            </a:r>
            <a:r>
              <a:rPr/>
              <a:t> (</a:t>
            </a:r>
            <a:r>
              <a:rPr>
                <a:latin typeface="Courier"/>
              </a:rPr>
              <a:t>0.759</a:t>
            </a:r>
            <a:r>
              <a:rPr/>
              <a:t>)</a:t>
            </a:r>
          </a:p>
          <a:p>
            <a:pPr lvl="0"/>
            <a:r>
              <a:rPr/>
              <a:t>аналитика: </a:t>
            </a:r>
            <a:r>
              <a:rPr>
                <a:latin typeface="Courier"/>
              </a:rPr>
              <a:t>0.797</a:t>
            </a:r>
          </a:p>
          <a:p>
            <a:pPr lvl="0"/>
            <a:r>
              <a:rPr/>
              <a:t>событий: </a:t>
            </a:r>
            <a:r>
              <a:rPr>
                <a:latin typeface="Courier"/>
              </a:rPr>
              <a:t>1519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Динамика численности </a:t>
            </a:r>
            <a:r>
              <a:rPr>
                <a:latin typeface="Courier"/>
              </a:rPr>
              <a:t>S</a:t>
            </a:r>
            <a:r>
              <a:rPr/>
              <a:t>, </a:t>
            </a:r>
            <a:r>
              <a:rPr>
                <a:latin typeface="Courier"/>
              </a:rPr>
              <a:t>I</a:t>
            </a:r>
            <a:r>
              <a:rPr/>
              <a:t>, </a:t>
            </a:r>
            <a:r>
              <a:rPr>
                <a:latin typeface="Courier"/>
              </a:rPr>
              <a:t>R</a:t>
            </a:r>
          </a:p>
        </p:txBody>
      </p:sp>
      <p:pic>
        <p:nvPicPr>
          <p:cNvPr descr="image/generated/sir_trajecto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657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Дискретно-событийная динамика SIR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Сравнение с детерминированной моделью</a:t>
            </a:r>
          </a:p>
        </p:txBody>
      </p:sp>
      <p:pic>
        <p:nvPicPr>
          <p:cNvPr descr="image/generated/sir_des_vs_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71700" y="1193800"/>
            <a:ext cx="4800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Дискретно-событийная (сплошные) и детерминированная (штриховые)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Детерминированная ОДУ: пик </a:t>
            </a:r>
            <a:r>
              <a:rPr>
                <a:latin typeface="Courier"/>
              </a:rPr>
              <a:t>158</a:t>
            </a:r>
            <a:r>
              <a:rPr/>
              <a:t> в </a:t>
            </a:r>
            <a:r>
              <a:rPr>
                <a:latin typeface="Courier"/>
              </a:rPr>
              <a:t>t = 17.5</a:t>
            </a:r>
            <a:r>
              <a:rPr/>
              <a:t>, доля </a:t>
            </a:r>
            <a:r>
              <a:rPr>
                <a:latin typeface="Courier"/>
              </a:rPr>
              <a:t>0.776</a:t>
            </a:r>
            <a:r>
              <a:rPr/>
              <a:t> — имитация согласуется в пределах стохастического разброса.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Ансамбль стохастических реализаций</a:t>
            </a:r>
          </a:p>
        </p:txBody>
      </p:sp>
      <p:pic>
        <p:nvPicPr>
          <p:cNvPr descr="image/generated/sir_ensem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4038600" cy="2336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Ансамбль из 24 прогонов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средний пик: </a:t>
            </a:r>
            <a:r>
              <a:rPr>
                <a:latin typeface="Courier"/>
              </a:rPr>
              <a:t>172.0</a:t>
            </a:r>
          </a:p>
          <a:p>
            <a:pPr lvl="0"/>
            <a:r>
              <a:rPr/>
              <a:t>разброс пика: </a:t>
            </a:r>
            <a:r>
              <a:rPr>
                <a:latin typeface="Courier"/>
              </a:rPr>
              <a:t>133…217</a:t>
            </a:r>
          </a:p>
          <a:p>
            <a:pPr lvl="0"/>
            <a:r>
              <a:rPr/>
              <a:t>средняя доля: </a:t>
            </a:r>
            <a:r>
              <a:rPr>
                <a:latin typeface="Courier"/>
              </a:rPr>
              <a:t>0.771</a:t>
            </a:r>
          </a:p>
          <a:p>
            <a:pPr lvl="0"/>
            <a:r>
              <a:rPr/>
              <a:t>ранних затуханий нет: при </a:t>
            </a:r>
            <a:r>
              <a:rPr>
                <a:latin typeface="Courier"/>
              </a:rPr>
              <a:t>R_0 = 2</a:t>
            </a:r>
            <a:r>
              <a:rPr/>
              <a:t> и </a:t>
            </a:r>
            <a:r>
              <a:rPr>
                <a:latin typeface="Courier"/>
              </a:rPr>
              <a:t>I_0 = 10</a:t>
            </a:r>
            <a:r>
              <a:rPr/>
              <a:t> эпидемия разгорается почти всегда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Фазовый портрет</a:t>
            </a:r>
          </a:p>
        </p:txBody>
      </p:sp>
      <p:pic>
        <p:nvPicPr>
          <p:cNvPr descr="image/generated/sir_phas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82900" y="1193800"/>
            <a:ext cx="3378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Фазовый портрет </a:t>
            </a:r>
            <a:r>
              <a:rPr>
                <a:latin typeface="Courier"/>
              </a:rPr>
              <a:t>S</a:t>
            </a:r>
            <a:r>
              <a:rPr/>
              <a:t>–</a:t>
            </a:r>
            <a:r>
              <a:rPr>
                <a:latin typeface="Courier"/>
              </a:rPr>
              <a:t>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Пик достигается вблизи </a:t>
            </a:r>
            <a:r>
              <a:rPr>
                <a:latin typeface="Courier"/>
              </a:rPr>
              <a:t>S = N/R_0 = 500</a:t>
            </a:r>
            <a:r>
              <a:rPr/>
              <a:t> — порога устойчивости.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Анализ чувствительности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Сетка параметров и результаты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Сетка </a:t>
            </a:r>
            <a:r>
              <a:rPr>
                <a:latin typeface="Courier"/>
              </a:rPr>
              <a:t>β × c × γ</a:t>
            </a:r>
            <a:r>
              <a:rPr/>
              <a:t> (</a:t>
            </a:r>
            <a:r>
              <a:rPr>
                <a:latin typeface="Courier"/>
              </a:rPr>
              <a:t>3×3×3 = 27</a:t>
            </a:r>
            <a:r>
              <a:rPr/>
              <a:t> сценариев) при </a:t>
            </a:r>
            <a:r>
              <a:rPr>
                <a:latin typeface="Courier"/>
              </a:rPr>
              <a:t>c = 10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0900"/>
                <a:gridCol w="850900"/>
                <a:gridCol w="850900"/>
                <a:gridCol w="850900"/>
                <a:gridCol w="850900"/>
                <a:gridCol w="8509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R0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mean_peak_I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final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analytic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14.0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0.199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0.314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192.3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0.797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292.5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0.925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373.8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0.966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 </a:t>
            </a:r>
            <a:r>
              <a:rPr>
                <a:latin typeface="Courier"/>
              </a:rPr>
              <a:t>R_0 \le 1</a:t>
            </a:r>
            <a:r>
              <a:rPr/>
              <a:t> эпидемии нет; при </a:t>
            </a:r>
            <a:r>
              <a:rPr>
                <a:latin typeface="Courier"/>
              </a:rPr>
              <a:t>R_0 &gt; 1</a:t>
            </a:r>
            <a:r>
              <a:rPr/>
              <a:t> масштаб растёт.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Запуск анализа чувствительности</a:t>
            </a:r>
          </a:p>
        </p:txBody>
      </p:sp>
      <p:pic>
        <p:nvPicPr>
          <p:cNvPr descr="image/screenshots/fig03-sir-sca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413000"/>
            <a:ext cx="8229600" cy="44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</a:t>
            </a:r>
            <a:r>
              <a:rPr>
                <a:latin typeface="Courier"/>
              </a:rPr>
              <a:t>scripts/sir_parameters.jl</a:t>
            </a:r>
            <a:r>
              <a:rPr/>
              <a:t> — 27 сценариев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Высота пика по </a:t>
            </a:r>
            <a:r>
              <a:rPr>
                <a:latin typeface="Courier"/>
              </a:rPr>
              <a:t>β</a:t>
            </a:r>
            <a:r>
              <a:rPr/>
              <a:t> и </a:t>
            </a:r>
            <a:r>
              <a:rPr>
                <a:latin typeface="Courier"/>
              </a:rPr>
              <a:t>c</a:t>
            </a:r>
          </a:p>
        </p:txBody>
      </p:sp>
      <p:pic>
        <p:nvPicPr>
          <p:cNvPr descr="image/generated/sir_peak_by_be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Пик по </a:t>
            </a:r>
            <a:r>
              <a:rPr>
                <a:latin typeface="Courier"/>
              </a:rPr>
              <a:t>β</a:t>
            </a:r>
          </a:p>
        </p:txBody>
      </p:sp>
      <p:pic>
        <p:nvPicPr>
          <p:cNvPr descr="image/generated/sir_peak_by_contact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Пик по </a:t>
            </a:r>
            <a:r>
              <a:rPr>
                <a:latin typeface="Courier"/>
              </a:rPr>
              <a:t>c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β</a:t>
            </a:r>
            <a:r>
              <a:rPr/>
              <a:t> и </a:t>
            </a:r>
            <a:r>
              <a:rPr>
                <a:latin typeface="Courier"/>
              </a:rPr>
              <a:t>c</a:t>
            </a:r>
            <a:r>
              <a:rPr/>
              <a:t> входят в </a:t>
            </a:r>
            <a:r>
              <a:rPr>
                <a:latin typeface="Courier"/>
              </a:rPr>
              <a:t>R_0</a:t>
            </a:r>
            <a:r>
              <a:rPr/>
              <a:t> через произведение </a:t>
            </a:r>
            <a:r>
              <a:rPr>
                <a:latin typeface="Courier"/>
              </a:rPr>
              <a:t>βc</a:t>
            </a:r>
            <a:r>
              <a:rPr/>
              <a:t> и действуют симметрично.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Конечный размер и тепловая карта</a:t>
            </a:r>
          </a:p>
        </p:txBody>
      </p:sp>
      <p:pic>
        <p:nvPicPr>
          <p:cNvPr descr="image/generated/sir_final_size_by_r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98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Доля переболевших по </a:t>
            </a:r>
            <a:r>
              <a:rPr>
                <a:latin typeface="Courier"/>
              </a:rPr>
              <a:t>R0</a:t>
            </a:r>
          </a:p>
        </p:txBody>
      </p:sp>
      <p:pic>
        <p:nvPicPr>
          <p:cNvPr descr="image/generated/sir_peak_heatmap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498600"/>
            <a:ext cx="4038600" cy="2260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Пик по </a:t>
            </a:r>
            <a:r>
              <a:rPr>
                <a:latin typeface="Courier"/>
              </a:rPr>
              <a:t>(β, γ)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Имитация близка к кривой </a:t>
            </a:r>
            <a:r>
              <a:rPr>
                <a:latin typeface="Courier"/>
              </a:rPr>
              <a:t>z = 1 - e^{-R_0 z}</a:t>
            </a:r>
            <a:r>
              <a:rPr/>
              <a:t>; вблизи </a:t>
            </a:r>
            <a:r>
              <a:rPr>
                <a:latin typeface="Courier"/>
              </a:rPr>
              <a:t>R_0 = 1</a:t>
            </a:r>
            <a:r>
              <a:rPr/>
              <a:t> лежит ниже из-за стохастического затухания.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Модификации и производительность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Дополнительные модификации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Детерминированная длительность болезни:</a:t>
            </a:r>
          </a:p>
          <a:p>
            <a:pPr lvl="0"/>
            <a:r>
              <a:rPr/>
              <a:t>флаг </a:t>
            </a:r>
            <a:r>
              <a:rPr>
                <a:latin typeface="Courier"/>
              </a:rPr>
              <a:t>det_recovery</a:t>
            </a:r>
          </a:p>
          <a:p>
            <a:pPr lvl="0"/>
            <a:r>
              <a:rPr>
                <a:latin typeface="Courier"/>
              </a:rPr>
              <a:t>Exp(1/γ)</a:t>
            </a:r>
            <a:r>
              <a:rPr/>
              <a:t> заменяется на </a:t>
            </a:r>
            <a:r>
              <a:rPr>
                <a:latin typeface="Courier"/>
              </a:rPr>
              <a:t>1/γ</a:t>
            </a:r>
          </a:p>
          <a:p>
            <a:pPr lvl="0"/>
            <a:r>
              <a:rPr/>
              <a:t>выздоровления синхроннее, пик уже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Производительность </a:t>
            </a:r>
            <a:r>
              <a:rPr>
                <a:latin typeface="Courier"/>
              </a:rPr>
              <a:t>sir_run</a:t>
            </a:r>
            <a:r>
              <a:rPr/>
              <a:t>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>
                          <a:latin typeface="Courier"/>
                        </a:rP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время, с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0.23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1.94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10000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5.63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Рост времени близок к линейному по числу событий.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Воспроизводимость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Literate-артефакты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Единый источник </a:t>
            </a:r>
            <a:r>
              <a:rPr>
                <a:latin typeface="Courier"/>
              </a:rPr>
              <a:t>*_literate.jl</a:t>
            </a:r>
            <a:r>
              <a:rPr/>
              <a:t> через </a:t>
            </a:r>
            <a:r>
              <a:rPr>
                <a:latin typeface="Courier"/>
              </a:rPr>
              <a:t>Literate.jl</a:t>
            </a:r>
            <a:r>
              <a:rPr/>
              <a:t> порождает:</a:t>
            </a:r>
          </a:p>
          <a:p>
            <a:pPr lvl="1"/>
            <a:r>
              <a:rPr>
                <a:latin typeface="Courier"/>
              </a:rPr>
              <a:t>clean</a:t>
            </a:r>
            <a:r>
              <a:rPr/>
              <a:t>-скрипт (чистый код)</a:t>
            </a:r>
          </a:p>
          <a:p>
            <a:pPr lvl="1"/>
            <a:r>
              <a:rPr>
                <a:latin typeface="Courier"/>
              </a:rPr>
              <a:t>markdown</a:t>
            </a:r>
            <a:r>
              <a:rPr/>
              <a:t>-документ</a:t>
            </a:r>
          </a:p>
          <a:p>
            <a:pPr lvl="1"/>
            <a:r>
              <a:rPr/>
              <a:t>исполняемый </a:t>
            </a:r>
            <a:r>
              <a:rPr>
                <a:latin typeface="Courier"/>
              </a:rPr>
              <a:t>ipynb</a:t>
            </a:r>
            <a:r>
              <a:rPr/>
              <a:t>-ноутбук</a:t>
            </a:r>
          </a:p>
          <a:p>
            <a:pPr lvl="0"/>
            <a:r>
              <a:rPr/>
              <a:t>Генерация выполняется одним сценарием </a:t>
            </a:r>
            <a:r>
              <a:rPr>
                <a:latin typeface="Courier"/>
              </a:rPr>
              <a:t>scripts/tangle.jl</a:t>
            </a:r>
          </a:p>
          <a:p>
            <a:pPr lvl="0"/>
            <a:r>
              <a:rPr/>
              <a:t>Notebook-файлы выполняются при генерации (</a:t>
            </a:r>
            <a:r>
              <a:rPr>
                <a:latin typeface="Courier"/>
              </a:rPr>
              <a:t>execute = true</a:t>
            </a:r>
            <a:r>
              <a:rPr/>
              <a:t>)</a:t>
            </a:r>
          </a:p>
          <a:p>
            <a:pPr lvl="0" indent="0">
              <a:buNone/>
            </a:pPr>
            <a:r>
              <a:rPr>
                <a:latin typeface="Courier"/>
              </a:rPr>
              <a:t>generated for sir
generated for sir_parameters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Генерация и проверка артефактов</a:t>
            </a:r>
          </a:p>
        </p:txBody>
      </p:sp>
      <p:pic>
        <p:nvPicPr>
          <p:cNvPr descr="image/screenshots/fig04-tang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981200"/>
            <a:ext cx="40386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Запуск </a:t>
            </a:r>
            <a:r>
              <a:rPr>
                <a:latin typeface="Courier"/>
              </a:rPr>
              <a:t>scripts/tangle.jl</a:t>
            </a:r>
          </a:p>
        </p:txBody>
      </p:sp>
      <p:pic>
        <p:nvPicPr>
          <p:cNvPr descr="image/screenshots/fig05-check-fil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648200" y="1308100"/>
            <a:ext cx="4038600" cy="2654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Проверка каталогов результатов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Реализована стохастическая дискретно-событийная модель SIR на </a:t>
            </a:r>
            <a:r>
              <a:rPr>
                <a:latin typeface="Courier"/>
              </a:rPr>
              <a:t>ConcurrentSim</a:t>
            </a:r>
          </a:p>
          <a:p>
            <a:pPr lvl="0"/>
            <a:r>
              <a:rPr/>
              <a:t>Базовый прогон (</a:t>
            </a:r>
            <a:r>
              <a:rPr>
                <a:latin typeface="Courier"/>
              </a:rPr>
              <a:t>R_0 = 2</a:t>
            </a:r>
            <a:r>
              <a:rPr/>
              <a:t>): пик </a:t>
            </a:r>
            <a:r>
              <a:rPr>
                <a:latin typeface="Courier"/>
              </a:rPr>
              <a:t>152</a:t>
            </a:r>
            <a:r>
              <a:rPr/>
              <a:t>, доля </a:t>
            </a:r>
            <a:r>
              <a:rPr>
                <a:latin typeface="Courier"/>
              </a:rPr>
              <a:t>0.759</a:t>
            </a:r>
            <a:r>
              <a:rPr/>
              <a:t> — согласуется с ОДУ (</a:t>
            </a:r>
            <a:r>
              <a:rPr>
                <a:latin typeface="Courier"/>
              </a:rPr>
              <a:t>158</a:t>
            </a:r>
            <a:r>
              <a:rPr/>
              <a:t>, </a:t>
            </a:r>
            <a:r>
              <a:rPr>
                <a:latin typeface="Courier"/>
              </a:rPr>
              <a:t>0.776</a:t>
            </a:r>
            <a:r>
              <a:rPr/>
              <a:t>) и аналитикой (</a:t>
            </a:r>
            <a:r>
              <a:rPr>
                <a:latin typeface="Courier"/>
              </a:rPr>
              <a:t>0.797</a:t>
            </a:r>
            <a:r>
              <a:rPr/>
              <a:t>)</a:t>
            </a:r>
          </a:p>
          <a:p>
            <a:pPr lvl="0"/>
            <a:r>
              <a:rPr/>
              <a:t>Ансамбль подтвердил стохастический разброс и низкую вероятность раннего вымирания</a:t>
            </a:r>
          </a:p>
          <a:p>
            <a:pPr lvl="0"/>
            <a:r>
              <a:rPr/>
              <a:t>Анализ чувствительности выявил пороговое поведение по </a:t>
            </a:r>
            <a:r>
              <a:rPr>
                <a:latin typeface="Courier"/>
              </a:rPr>
              <a:t>R_0</a:t>
            </a:r>
          </a:p>
          <a:p>
            <a:pPr lvl="0"/>
            <a:r>
              <a:rPr/>
              <a:t>Реализованы детерминированная длительность болезни и оценка производительности</a:t>
            </a:r>
          </a:p>
          <a:p>
            <a:pPr lvl="0"/>
            <a:r>
              <a:rPr/>
              <a:t>Проект оформлен воспроизводимо с помощью </a:t>
            </a:r>
            <a:r>
              <a:rPr>
                <a:latin typeface="Courier"/>
              </a:rPr>
              <a:t>DrWatson</a:t>
            </a:r>
            <a:r>
              <a:rPr/>
              <a:t> и </a:t>
            </a:r>
            <a:r>
              <a:rPr>
                <a:latin typeface="Courier"/>
              </a:rPr>
              <a:t>Literate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Имитационное моделирование</dc:title>
  <dc:creator>Глущенко Евгений Игоревич</dc:creator>
  <cp:keywords/>
  <dcterms:created xsi:type="dcterms:W3CDTF">2026-05-29T17:55:29Z</dcterms:created>
  <dcterms:modified xsi:type="dcterms:W3CDTF">2026-05-29T17:55:29Z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2026-05-29</vt:lpwstr>
  </property>
  <property fmtid="{D5CDD505-2E9C-101B-9397-08002B2CF9AE}" pid="9" name="date-format">
    <vt:lpwstr>YYYY-MM-DD</vt:lpwstr>
  </property>
  <property fmtid="{D5CDD505-2E9C-101B-9397-08002B2CF9AE}" pid="10" name="engines">
    <vt:lpwstr/>
  </property>
  <property fmtid="{D5CDD505-2E9C-101B-9397-08002B2CF9AE}" pid="11" name="header-includes">
    <vt:lpwstr/>
  </property>
  <property fmtid="{D5CDD505-2E9C-101B-9397-08002B2CF9AE}" pid="12" name="include-after">
    <vt:lpwstr/>
  </property>
  <property fmtid="{D5CDD505-2E9C-101B-9397-08002B2CF9AE}" pid="13" name="include-before">
    <vt:lpwstr/>
  </property>
  <property fmtid="{D5CDD505-2E9C-101B-9397-08002B2CF9AE}" pid="14" name="labels">
    <vt:lpwstr/>
  </property>
  <property fmtid="{D5CDD505-2E9C-101B-9397-08002B2CF9AE}" pid="15" name="license">
    <vt:lpwstr/>
  </property>
  <property fmtid="{D5CDD505-2E9C-101B-9397-08002B2CF9AE}" pid="16" name="subtitle">
    <vt:lpwstr>Лабораторная работа №8. Реализация модели SIR в дискретно-событийном подходе</vt:lpwstr>
  </property>
  <property fmtid="{D5CDD505-2E9C-101B-9397-08002B2CF9AE}" pid="17" name="toc-title">
    <vt:lpwstr>Содержание</vt:lpwstr>
  </property>
</Properties>
</file>