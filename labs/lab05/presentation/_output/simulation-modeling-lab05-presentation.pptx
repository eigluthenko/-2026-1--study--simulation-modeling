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№5. Аппарат сетей Петри</a:t>
            </a:r>
            <a:br/>
            <a:br/>
            <a:r>
              <a:rPr/>
              <a:t>Глущенко Евгений Игоревич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 и работа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Глущенко Евгений Игоревич</a:t>
            </a:r>
          </a:p>
          <a:p>
            <a:pPr lvl="0"/>
            <a:r>
              <a:rPr/>
              <a:t>студент группы НФИбд-01-23</a:t>
            </a:r>
          </a:p>
          <a:p>
            <a:pPr lvl="0"/>
            <a:r>
              <a:rPr/>
              <a:t>студенческий билет: 1132239110</a:t>
            </a:r>
          </a:p>
          <a:p>
            <a:pPr lvl="0"/>
            <a:r>
              <a:rPr/>
              <a:t>РУДН имени Патриса Лумумбы</a:t>
            </a:r>
          </a:p>
          <a:p>
            <a:pPr lvl="0"/>
            <a:r>
              <a:rPr/>
              <a:t>тема: сети Петри и задача обедающих философов</a:t>
            </a:r>
          </a:p>
          <a:p>
            <a:pPr lvl="0"/>
            <a:r>
              <a:rPr/>
              <a:t>средства: Julia, DrWatson, CairoMakie, CSV, DataFrames, Literate.jl</a:t>
            </a:r>
          </a:p>
        </p:txBody>
      </p:sp>
      <p:pic>
        <p:nvPicPr>
          <p:cNvPr descr="_resources/image/logo_rud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3600" y="1193800"/>
            <a:ext cx="400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аппарат сетей Петри</a:t>
            </a:r>
          </a:p>
          <a:p>
            <a:pPr lvl="0"/>
            <a:r>
              <a:rPr/>
              <a:t>Реализовать классическую сеть для задачи обедающих философов</a:t>
            </a:r>
          </a:p>
          <a:p>
            <a:pPr lvl="0"/>
            <a:r>
              <a:rPr/>
              <a:t>Реализовать модификацию с арбитром</a:t>
            </a:r>
          </a:p>
          <a:p>
            <a:pPr lvl="0"/>
            <a:r>
              <a:rPr/>
              <a:t>Сравнить наличие deadlock в двух сетях</a:t>
            </a:r>
          </a:p>
          <a:p>
            <a:pPr lvl="0"/>
            <a:r>
              <a:rPr/>
              <a:t>Подготовить literate-версии скриптов и документацию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Создать проект Julia в структуре </a:t>
            </a:r>
            <a:r>
              <a:rPr>
                <a:latin typeface="Courier"/>
              </a:rPr>
              <a:t>DrWatson</a:t>
            </a:r>
          </a:p>
          <a:p>
            <a:pPr lvl="0" indent="-342900" marL="342900">
              <a:buAutoNum type="arabicPeriod"/>
            </a:pPr>
            <a:r>
              <a:rPr/>
              <a:t>Реализовать модель сети Петри</a:t>
            </a:r>
          </a:p>
          <a:p>
            <a:pPr lvl="0" indent="-342900" marL="342900">
              <a:buAutoNum type="arabicPeriod"/>
            </a:pPr>
            <a:r>
              <a:rPr/>
              <a:t>Выполнить базовый эксперимент и анимацию</a:t>
            </a:r>
          </a:p>
          <a:p>
            <a:pPr lvl="0" indent="-342900" marL="342900">
              <a:buAutoNum type="arabicPeriod"/>
            </a:pPr>
            <a:r>
              <a:rPr/>
              <a:t>Построить итоговый график по </a:t>
            </a:r>
            <a:r>
              <a:rPr>
                <a:latin typeface="Courier"/>
              </a:rPr>
              <a:t>Eat_i</a:t>
            </a:r>
          </a:p>
          <a:p>
            <a:pPr lvl="0" indent="-342900" marL="342900">
              <a:buAutoNum type="arabicPeriod"/>
            </a:pPr>
            <a:r>
              <a:rPr/>
              <a:t>Провести параметрическое исследование по </a:t>
            </a:r>
            <a:r>
              <a:rPr>
                <a:latin typeface="Courier"/>
              </a:rPr>
              <a:t>N</a:t>
            </a:r>
            <a:r>
              <a:rPr/>
              <a:t>, </a:t>
            </a:r>
            <a:r>
              <a:rPr>
                <a:latin typeface="Courier"/>
              </a:rPr>
              <a:t>tmax</a:t>
            </a:r>
            <a:r>
              <a:rPr/>
              <a:t>, </a:t>
            </a:r>
            <a:r>
              <a:rPr>
                <a:latin typeface="Courier"/>
              </a:rPr>
              <a:t>seed</a:t>
            </a:r>
          </a:p>
          <a:p>
            <a:pPr lvl="0" indent="-342900" marL="342900">
              <a:buAutoNum type="arabicPeriod"/>
            </a:pPr>
            <a:r>
              <a:rPr/>
              <a:t>Сгенерировать </a:t>
            </a:r>
            <a:r>
              <a:rPr>
                <a:latin typeface="Courier"/>
              </a:rPr>
              <a:t>.jl</a:t>
            </a:r>
            <a:r>
              <a:rPr/>
              <a:t>, </a:t>
            </a:r>
            <a:r>
              <a:rPr>
                <a:latin typeface="Courier"/>
              </a:rPr>
              <a:t>.ipynb</a:t>
            </a:r>
            <a:r>
              <a:rPr/>
              <a:t>, </a:t>
            </a:r>
            <a:r>
              <a:rPr>
                <a:latin typeface="Courier"/>
              </a:rPr>
              <a:t>.qmd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Теоретическое введение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Сеть Петри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N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>
                    <a:latin typeface="Courier"/>
                  </a:rPr>
                  <a:t>P</a:t>
                </a:r>
                <a:r>
                  <a:rPr/>
                  <a:t> – позиции</a:t>
                </a:r>
              </a:p>
              <a:p>
                <a:pPr lvl="0"/>
                <a:r>
                  <a:rPr>
                    <a:latin typeface="Courier"/>
                  </a:rPr>
                  <a:t>T</a:t>
                </a:r>
                <a:r>
                  <a:rPr/>
                  <a:t> – переходы</a:t>
                </a:r>
              </a:p>
              <a:p>
                <a:pPr lvl="0"/>
                <a:r>
                  <a:rPr>
                    <a:latin typeface="Courier"/>
                  </a:rPr>
                  <a:t>F</a:t>
                </a:r>
                <a:r>
                  <a:rPr/>
                  <a:t> – дуги</a:t>
                </a:r>
              </a:p>
              <a:p>
                <a:pPr lvl="0"/>
                <a:r>
                  <a:rPr>
                    <a:latin typeface="Courier"/>
                  </a:rPr>
                  <a:t>M_0</a:t>
                </a:r>
                <a:r>
                  <a:rPr/>
                  <a:t> – начальная маркировка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позиции описывают состояния</a:t>
            </a:r>
          </a:p>
          <a:p>
            <a:pPr lvl="0"/>
            <a:r>
              <a:rPr/>
              <a:t>переходы описывают события</a:t>
            </a:r>
          </a:p>
          <a:p>
            <a:pPr lvl="0"/>
            <a:r>
              <a:rPr/>
              <a:t>фишки задают текущую маркировку</a:t>
            </a:r>
          </a:p>
          <a:p>
            <a:pPr lvl="0"/>
            <a:r>
              <a:rPr/>
              <a:t>переход срабатывает при наличии входных фишек</a:t>
            </a:r>
          </a:p>
          <a:p>
            <a:pPr lvl="0"/>
            <a:r>
              <a:rPr/>
              <a:t>срабатывание меняет маркировку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Задача обедающих философов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N</a:t>
            </a:r>
            <a:r>
              <a:rPr/>
              <a:t> философов сидят за круглым столом</a:t>
            </a:r>
          </a:p>
          <a:p>
            <a:pPr lvl="0"/>
            <a:r>
              <a:rPr/>
              <a:t>Между соседями лежит одна вилка</a:t>
            </a:r>
          </a:p>
          <a:p>
            <a:pPr lvl="0"/>
            <a:r>
              <a:rPr/>
              <a:t>Чтобы есть, нужны левая и правая вилки</a:t>
            </a:r>
          </a:p>
          <a:p>
            <a:pPr lvl="0"/>
            <a:r>
              <a:rPr/>
              <a:t>В классической постановке возможен deadlock</a:t>
            </a:r>
          </a:p>
          <a:p>
            <a:pPr lvl="0"/>
            <a:r>
              <a:rPr/>
              <a:t>Позиция Arbiter с N-1 фишками предотвращает тупик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Позиции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Think_i</a:t>
            </a:r>
            <a:r>
              <a:rPr/>
              <a:t> – философ размышляет</a:t>
            </a:r>
          </a:p>
          <a:p>
            <a:pPr lvl="0"/>
            <a:r>
              <a:rPr>
                <a:latin typeface="Courier"/>
              </a:rPr>
              <a:t>Hungry_i</a:t>
            </a:r>
            <a:r>
              <a:rPr/>
              <a:t> – философ ждёт вторую вилку</a:t>
            </a:r>
          </a:p>
          <a:p>
            <a:pPr lvl="0"/>
            <a:r>
              <a:rPr>
                <a:latin typeface="Courier"/>
              </a:rPr>
              <a:t>Eat_i</a:t>
            </a:r>
            <a:r>
              <a:rPr/>
              <a:t> – философ ест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Fork_i</a:t>
            </a:r>
            <a:r>
              <a:rPr/>
              <a:t> – вилка свободна</a:t>
            </a:r>
          </a:p>
          <a:p>
            <a:pPr lvl="0"/>
            <a:r>
              <a:rPr>
                <a:latin typeface="Courier"/>
              </a:rPr>
              <a:t>Arbiter</a:t>
            </a:r>
            <a:r>
              <a:rPr/>
              <a:t> – дополнительный ресурс</a:t>
            </a:r>
          </a:p>
          <a:p>
            <a:pPr lvl="0"/>
            <a:r>
              <a:rPr/>
              <a:t>deadlock фиксируется, если нет разрешённых переходов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Настройка окружения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Рабочий каталог и Julia</a:t>
            </a:r>
          </a:p>
        </p:txBody>
      </p:sp>
      <p:pic>
        <p:nvPicPr>
          <p:cNvPr descr="image/fig01-cd-proj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68600"/>
            <a:ext cx="4038600" cy="22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fig02-julia-vers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794000"/>
            <a:ext cx="4038600" cy="20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Подготовка проекта</a:t>
            </a:r>
          </a:p>
        </p:txBody>
      </p:sp>
      <p:pic>
        <p:nvPicPr>
          <p:cNvPr descr="image/fig03-pkg-set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94000"/>
            <a:ext cx="8229600" cy="19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src/DiningPhilosophers.jl</a:t>
            </a:r>
          </a:p>
          <a:p>
            <a:pPr lvl="0"/>
            <a:r>
              <a:rPr>
                <a:latin typeface="Courier"/>
              </a:rPr>
              <a:t>scripts/dining_philosophers.jl</a:t>
            </a:r>
          </a:p>
          <a:p>
            <a:pPr lvl="0"/>
            <a:r>
              <a:rPr>
                <a:latin typeface="Courier"/>
              </a:rPr>
              <a:t>scripts/dining_philosophers_animation.jl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scripts/dining_philosophers_report.jl</a:t>
            </a:r>
          </a:p>
          <a:p>
            <a:pPr lvl="0"/>
            <a:r>
              <a:rPr>
                <a:latin typeface="Courier"/>
              </a:rPr>
              <a:t>scripts/dining_philosophers_params.jl</a:t>
            </a:r>
          </a:p>
          <a:p>
            <a:pPr lvl="0"/>
            <a:r>
              <a:rPr>
                <a:latin typeface="Courier"/>
              </a:rPr>
              <a:t>scripts/tangle.jl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и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PetriNet</a:t>
            </a:r>
            <a:br/>
            <a:r>
              <a:rPr>
                <a:latin typeface="Courier"/>
              </a:rPr>
              <a:t>    n_places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br/>
            <a:r>
              <a:rPr>
                <a:latin typeface="Courier"/>
              </a:rPr>
              <a:t>    n_transitions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br/>
            <a:r>
              <a:rPr>
                <a:latin typeface="Courier"/>
              </a:rPr>
              <a:t>    incidence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Matrix{Int}</a:t>
            </a:r>
            <a:br/>
            <a:r>
              <a:rPr>
                <a:latin typeface="Courier"/>
              </a:rPr>
              <a:t>    place_names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Vector{Symbol}</a:t>
            </a:r>
            <a:br/>
            <a:r>
              <a:rPr>
                <a:latin typeface="Courier"/>
              </a:rPr>
              <a:t>    transition_names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Vector{Symbol}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buNone/>
            </a:pPr>
            <a:r>
              <a:rPr/>
              <a:t>Основные функции: </a:t>
            </a:r>
            <a:r>
              <a:rPr>
                <a:latin typeface="Courier"/>
              </a:rPr>
              <a:t>build_classical_network</a:t>
            </a:r>
            <a:r>
              <a:rPr/>
              <a:t>, </a:t>
            </a:r>
            <a:r>
              <a:rPr>
                <a:latin typeface="Courier"/>
              </a:rPr>
              <a:t>build_arbiter_network</a:t>
            </a:r>
            <a:r>
              <a:rPr/>
              <a:t>, </a:t>
            </a:r>
            <a:r>
              <a:rPr>
                <a:latin typeface="Courier"/>
              </a:rPr>
              <a:t>simulate_stochastic</a:t>
            </a:r>
            <a:r>
              <a:rPr/>
              <a:t>, </a:t>
            </a:r>
            <a:r>
              <a:rPr>
                <a:latin typeface="Courier"/>
              </a:rPr>
              <a:t>detect_deadlock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Базовый эксперимент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базового эксперимента</a:t>
            </a:r>
          </a:p>
        </p:txBody>
      </p:sp>
      <p:pic>
        <p:nvPicPr>
          <p:cNvPr descr="image/fig04-basic-ru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73200"/>
            <a:ext cx="82296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Классическая сеть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финальное время: </a:t>
            </a:r>
            <a:r>
              <a:rPr>
                <a:latin typeface="Courier"/>
              </a:rPr>
              <a:t>6.764</a:t>
            </a:r>
          </a:p>
          <a:p>
            <a:pPr lvl="0"/>
            <a:r>
              <a:rPr/>
              <a:t>число событий: </a:t>
            </a:r>
            <a:r>
              <a:rPr>
                <a:latin typeface="Courier"/>
              </a:rPr>
              <a:t>20</a:t>
            </a:r>
          </a:p>
          <a:p>
            <a:pPr lvl="0"/>
            <a:r>
              <a:rPr>
                <a:latin typeface="Courier"/>
              </a:rPr>
              <a:t>final_hungry = 5</a:t>
            </a:r>
          </a:p>
          <a:p>
            <a:pPr lvl="0"/>
            <a:r>
              <a:rPr>
                <a:latin typeface="Courier"/>
              </a:rPr>
              <a:t>final_eat = 0</a:t>
            </a:r>
          </a:p>
          <a:p>
            <a:pPr lvl="0"/>
            <a:r>
              <a:rPr>
                <a:latin typeface="Courier"/>
              </a:rPr>
              <a:t>deadlock: true</a:t>
            </a:r>
          </a:p>
        </p:txBody>
      </p:sp>
      <p:pic>
        <p:nvPicPr>
          <p:cNvPr descr="image/generated/classic_simu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0" y="1193800"/>
            <a:ext cx="304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Сеть с арбитром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финальное время: </a:t>
            </a:r>
            <a:r>
              <a:rPr>
                <a:latin typeface="Courier"/>
              </a:rPr>
              <a:t>50.0</a:t>
            </a:r>
          </a:p>
          <a:p>
            <a:pPr lvl="0"/>
            <a:r>
              <a:rPr/>
              <a:t>число событий: </a:t>
            </a:r>
            <a:r>
              <a:rPr>
                <a:latin typeface="Courier"/>
              </a:rPr>
              <a:t>105</a:t>
            </a:r>
          </a:p>
          <a:p>
            <a:pPr lvl="0"/>
            <a:r>
              <a:rPr>
                <a:latin typeface="Courier"/>
              </a:rPr>
              <a:t>final_hungry = 3</a:t>
            </a:r>
          </a:p>
          <a:p>
            <a:pPr lvl="0"/>
            <a:r>
              <a:rPr>
                <a:latin typeface="Courier"/>
              </a:rPr>
              <a:t>final_eat = 1</a:t>
            </a:r>
          </a:p>
          <a:p>
            <a:pPr lvl="0"/>
            <a:r>
              <a:rPr>
                <a:latin typeface="Courier"/>
              </a:rPr>
              <a:t>deadlock: false</a:t>
            </a:r>
          </a:p>
        </p:txBody>
      </p:sp>
      <p:pic>
        <p:nvPicPr>
          <p:cNvPr descr="image/generated/arbiter_simu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0" y="1193800"/>
            <a:ext cx="304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</a:t>
            </a:r>
            <a:r>
              <a:rPr>
                <a:latin typeface="Courier"/>
              </a:rPr>
              <a:t>Eat_i</a:t>
            </a:r>
          </a:p>
        </p:txBody>
      </p:sp>
      <p:pic>
        <p:nvPicPr>
          <p:cNvPr descr="image/generated/final_re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699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 по базовому эксперименту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 классической сети </a:t>
            </a:r>
            <a:r>
              <a:rPr>
                <a:latin typeface="Courier"/>
              </a:rPr>
              <a:t>Eat_i</a:t>
            </a:r>
            <a:r>
              <a:rPr/>
              <a:t> быстро исчезают</a:t>
            </a:r>
          </a:p>
          <a:p>
            <a:pPr lvl="0"/>
            <a:r>
              <a:rPr/>
              <a:t>все философы оказываются в состоянии ожидания</a:t>
            </a:r>
          </a:p>
          <a:p>
            <a:pPr lvl="0"/>
            <a:r>
              <a:rPr/>
              <a:t>все вилки становятся недоступны</a:t>
            </a:r>
          </a:p>
          <a:p>
            <a:pPr lvl="0"/>
            <a:r>
              <a:rPr/>
              <a:t>в сети с арбитром переходы продолжают срабатывать</a:t>
            </a:r>
          </a:p>
          <a:p>
            <a:pPr lvl="0"/>
            <a:r>
              <a:rPr/>
              <a:t>арбитр устраняет тупиковую конфигурацию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Анимация и параметры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Анимация маркировки</a:t>
            </a:r>
          </a:p>
        </p:txBody>
      </p:sp>
      <p:pic>
        <p:nvPicPr>
          <p:cNvPr descr="image/fig05-animation-ru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68600"/>
            <a:ext cx="4038600" cy="24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используется классическая сеть с </a:t>
            </a:r>
            <a:r>
              <a:rPr>
                <a:latin typeface="Courier"/>
              </a:rPr>
              <a:t>N = 3</a:t>
            </a:r>
          </a:p>
          <a:p>
            <a:pPr lvl="0"/>
            <a:r>
              <a:rPr/>
              <a:t>каждый кадр показывает текущую маркировку</a:t>
            </a:r>
          </a:p>
          <a:p>
            <a:pPr lvl="0"/>
            <a:r>
              <a:rPr/>
              <a:t>результат: </a:t>
            </a:r>
            <a:r>
              <a:rPr>
                <a:latin typeface="Courier"/>
              </a:rPr>
              <a:t>plots/philosophers_simulation.gif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Параметрическое исследование</a:t>
            </a:r>
          </a:p>
        </p:txBody>
      </p:sp>
      <p:pic>
        <p:nvPicPr>
          <p:cNvPr descr="image/fig07-params-ru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552700"/>
            <a:ext cx="4038600" cy="67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N = [3, 5, 7]</a:t>
            </a:r>
          </a:p>
          <a:p>
            <a:pPr lvl="0"/>
            <a:r>
              <a:rPr>
                <a:latin typeface="Courier"/>
              </a:rPr>
              <a:t>tmax = [30.0, 50.0, 80.0]</a:t>
            </a:r>
          </a:p>
          <a:p>
            <a:pPr lvl="0"/>
            <a:r>
              <a:rPr>
                <a:latin typeface="Courier"/>
              </a:rPr>
              <a:t>seed = [123, 124, 125]</a:t>
            </a:r>
          </a:p>
          <a:p>
            <a:pPr lvl="0"/>
            <a:r>
              <a:rPr/>
              <a:t>всего </a:t>
            </a:r>
            <a:r>
              <a:rPr>
                <a:latin typeface="Courier"/>
              </a:rPr>
              <a:t>54</a:t>
            </a:r>
            <a:r>
              <a:rPr/>
              <a:t> запуска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Deadlock rate</a:t>
            </a:r>
          </a:p>
        </p:txBody>
      </p:sp>
      <p:pic>
        <p:nvPicPr>
          <p:cNvPr descr="image/generated/dining_para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193800"/>
            <a:ext cx="537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 параметрического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classic</a:t>
            </a:r>
            <a:r>
              <a:rPr/>
              <a:t>: deadlock rate равен </a:t>
            </a:r>
            <a:r>
              <a:rPr>
                <a:latin typeface="Courier"/>
              </a:rPr>
              <a:t>1.0</a:t>
            </a:r>
          </a:p>
          <a:p>
            <a:pPr lvl="0"/>
            <a:r>
              <a:rPr>
                <a:latin typeface="Courier"/>
              </a:rPr>
              <a:t>arbiter</a:t>
            </a:r>
            <a:r>
              <a:rPr/>
              <a:t>: deadlock rate равен </a:t>
            </a:r>
            <a:r>
              <a:rPr>
                <a:latin typeface="Courier"/>
              </a:rPr>
              <a:t>0.0</a:t>
            </a:r>
          </a:p>
          <a:p>
            <a:pPr lvl="0"/>
            <a:r>
              <a:rPr/>
              <a:t>результат устойчив для всех рассмотренных </a:t>
            </a:r>
            <a:r>
              <a:rPr>
                <a:latin typeface="Courier"/>
              </a:rPr>
              <a:t>N</a:t>
            </a:r>
            <a:r>
              <a:rPr/>
              <a:t>, </a:t>
            </a:r>
            <a:r>
              <a:rPr>
                <a:latin typeface="Courier"/>
              </a:rPr>
              <a:t>tmax</a:t>
            </a:r>
            <a:r>
              <a:rPr/>
              <a:t> и </a:t>
            </a:r>
            <a:r>
              <a:rPr>
                <a:latin typeface="Courier"/>
              </a:rPr>
              <a:t>seed</a:t>
            </a:r>
          </a:p>
          <a:p>
            <a:pPr lvl="0"/>
            <a:r>
              <a:rPr/>
              <a:t>сеть с арбитром сохраняет активность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Literate-форматы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Генерация производных форматов</a:t>
            </a:r>
          </a:p>
        </p:txBody>
      </p:sp>
      <p:pic>
        <p:nvPicPr>
          <p:cNvPr descr="image/fig08-tangle-ru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Итоговая структура файлов</a:t>
            </a:r>
          </a:p>
        </p:txBody>
      </p:sp>
      <p:pic>
        <p:nvPicPr>
          <p:cNvPr descr="image/fig09-generated-fi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57300"/>
            <a:ext cx="4038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clean-скрипты </a:t>
            </a:r>
            <a:r>
              <a:rPr>
                <a:latin typeface="Courier"/>
              </a:rPr>
              <a:t>.jl</a:t>
            </a:r>
          </a:p>
          <a:p>
            <a:pPr lvl="0"/>
            <a:r>
              <a:rPr/>
              <a:t>Quarto-документы </a:t>
            </a:r>
            <a:r>
              <a:rPr>
                <a:latin typeface="Courier"/>
              </a:rPr>
              <a:t>.qmd</a:t>
            </a:r>
          </a:p>
          <a:p>
            <a:pPr lvl="0"/>
            <a:r>
              <a:rPr/>
              <a:t>notebook-файлы </a:t>
            </a:r>
            <a:r>
              <a:rPr>
                <a:latin typeface="Courier"/>
              </a:rPr>
              <a:t>.ipynb</a:t>
            </a:r>
          </a:p>
          <a:p>
            <a:pPr lvl="0"/>
            <a:r>
              <a:rPr/>
              <a:t>CSV-таблицы</a:t>
            </a:r>
          </a:p>
          <a:p>
            <a:pPr lvl="0"/>
            <a:r>
              <a:rPr/>
              <a:t>PNG-графики</a:t>
            </a:r>
          </a:p>
          <a:p>
            <a:pPr lvl="0"/>
            <a:r>
              <a:rPr/>
              <a:t>GIF-анимация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Реализована сеть Петри для задачи обедающих философов</a:t>
            </a:r>
          </a:p>
          <a:p>
            <a:pPr lvl="0"/>
            <a:r>
              <a:rPr/>
              <a:t>Классическая сеть пришла к deadlock</a:t>
            </a:r>
          </a:p>
          <a:p>
            <a:pPr lvl="0"/>
            <a:r>
              <a:rPr/>
              <a:t>Сеть с арбитром не заблокировалась</a:t>
            </a:r>
          </a:p>
          <a:p>
            <a:pPr lvl="0"/>
            <a:r>
              <a:rPr/>
              <a:t>Получены CSV-файлы, графики и GIF-анимация</a:t>
            </a:r>
          </a:p>
          <a:p>
            <a:pPr lvl="0"/>
            <a:r>
              <a:rPr/>
              <a:t>Подготовлены literate-версии и производные форматы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Итоговый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Классическая постановка задачи обедающих философов допускает взаимную блокировку. Добавление позиции Arbiter с N-1 фишками предотвращает конфигурацию, в которой все философы одновременно удерживают по одной вилке. Поэтому сеть с арбитром сохраняет активность на всём интервале моделирования.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</dc:title>
  <dc:creator>Глущенко Евгений Игоревич</dc:creator>
  <cp:keywords/>
  <dcterms:created xsi:type="dcterms:W3CDTF">2026-04-17T19:22:24Z</dcterms:created>
  <dcterms:modified xsi:type="dcterms:W3CDTF">2026-04-17T19:22:24Z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2026-04-17</vt:lpwstr>
  </property>
  <property fmtid="{D5CDD505-2E9C-101B-9397-08002B2CF9AE}" pid="9" name="date-format">
    <vt:lpwstr>YYYY-MM-DD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license">
    <vt:lpwstr/>
  </property>
  <property fmtid="{D5CDD505-2E9C-101B-9397-08002B2CF9AE}" pid="16" name="subtitle">
    <vt:lpwstr>Лабораторная работа №5. Аппарат сетей Петри</vt:lpwstr>
  </property>
  <property fmtid="{D5CDD505-2E9C-101B-9397-08002B2CF9AE}" pid="17" name="toc-title">
    <vt:lpwstr>Содержание</vt:lpwstr>
  </property>
</Properties>
</file>